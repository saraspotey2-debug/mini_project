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7D80F7DA-E10B-1A48-A562-425526D113EB}" type="datetimeFigureOut">
              <a:rPr lang="en-US" smtClean="0"/>
              <a:t>4/23/2026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57F76B0-BF0A-D64A-A609-E5FE5EDFEC3D}" type="slidenum">
              <a:rPr lang="en-US" smtClean="0"/>
              <a:t>‹#›</a:t>
            </a:fld>
            <a:endParaRPr lang="en-US"/>
          </a:p>
        </p:txBody>
      </p:sp>
    </p:spTree>
    <p:extLst>
      <p:ext uri="{BB962C8B-B14F-4D97-AF65-F5344CB8AC3E}">
        <p14:creationId xmlns:p14="http://schemas.microsoft.com/office/powerpoint/2010/main" val="16127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1371600" y="1097280"/>
            <a:ext cx="6400800" cy="1645920"/>
          </a:xfrm>
          <a:prstGeom prst="rect">
            <a:avLst/>
          </a:prstGeom>
          <a:noFill/>
          <a:ln/>
        </p:spPr>
        <p:txBody>
          <a:bodyPr wrap="square" rtlCol="0" anchor="ctr"/>
          <a:lstStyle/>
          <a:p>
            <a:pPr marL="0" indent="0" algn="ctr">
              <a:buNone/>
            </a:pPr>
            <a:r>
              <a:rPr lang="en-US" sz="4000" dirty="0">
                <a:solidFill>
                  <a:srgbClr val="B8860B"/>
                </a:solidFill>
                <a:latin typeface="Calibri Light" pitchFamily="34" charset="0"/>
                <a:ea typeface="Calibri Light" pitchFamily="34" charset="-122"/>
                <a:cs typeface="Calibri Light" pitchFamily="34" charset="-120"/>
              </a:rPr>
              <a:t>Student Performance</a:t>
            </a:r>
            <a:endParaRPr lang="en-US" sz="4000" dirty="0"/>
          </a:p>
          <a:p>
            <a:pPr marL="0" indent="0" algn="ctr">
              <a:buNone/>
            </a:pPr>
            <a:r>
              <a:rPr lang="en-US" sz="4000" dirty="0">
                <a:solidFill>
                  <a:srgbClr val="B8860B"/>
                </a:solidFill>
                <a:latin typeface="Calibri Light" pitchFamily="34" charset="0"/>
                <a:ea typeface="Calibri Light" pitchFamily="34" charset="-122"/>
                <a:cs typeface="Calibri Light" pitchFamily="34" charset="-120"/>
              </a:rPr>
              <a:t>Analytics Dashboard</a:t>
            </a:r>
            <a:endParaRPr lang="en-US" sz="4000" dirty="0"/>
          </a:p>
        </p:txBody>
      </p:sp>
      <p:sp>
        <p:nvSpPr>
          <p:cNvPr id="17" name="Text 15"/>
          <p:cNvSpPr/>
          <p:nvPr/>
        </p:nvSpPr>
        <p:spPr>
          <a:xfrm>
            <a:off x="2286000" y="2926080"/>
            <a:ext cx="4572000" cy="1645920"/>
          </a:xfrm>
          <a:prstGeom prst="rect">
            <a:avLst/>
          </a:prstGeom>
          <a:noFill/>
          <a:ln/>
        </p:spPr>
        <p:txBody>
          <a:bodyPr wrap="square"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Riya Latkar (25070123092)</a:t>
            </a:r>
            <a:endParaRPr lang="en-US" sz="1300" dirty="0"/>
          </a:p>
          <a:p>
            <a:pPr marL="0" indent="0" algn="ctr">
              <a:buNone/>
            </a:pPr>
            <a:r>
              <a:rPr lang="en-US" sz="1300" dirty="0">
                <a:solidFill>
                  <a:srgbClr val="2C3E50"/>
                </a:solidFill>
                <a:latin typeface="Calibri" pitchFamily="34" charset="0"/>
                <a:ea typeface="Calibri" pitchFamily="34" charset="-122"/>
                <a:cs typeface="Calibri" pitchFamily="34" charset="-120"/>
              </a:rPr>
              <a:t>Bhomik Keshi (25070123172)</a:t>
            </a:r>
            <a:endParaRPr lang="en-US" sz="1300" dirty="0"/>
          </a:p>
          <a:p>
            <a:pPr marL="0" indent="0" algn="ctr">
              <a:buNone/>
            </a:pPr>
            <a:r>
              <a:rPr lang="en-US" sz="1300" dirty="0">
                <a:solidFill>
                  <a:srgbClr val="2C3E50"/>
                </a:solidFill>
                <a:latin typeface="Calibri" pitchFamily="34" charset="0"/>
                <a:ea typeface="Calibri" pitchFamily="34" charset="-122"/>
                <a:cs typeface="Calibri" pitchFamily="34" charset="-120"/>
              </a:rPr>
              <a:t>Sara Sagar Potey (25070123102)</a:t>
            </a:r>
            <a:endParaRPr lang="en-US" sz="1300" dirty="0"/>
          </a:p>
          <a:p>
            <a:pPr marL="0" indent="0" algn="ctr">
              <a:buNone/>
            </a:pPr>
            <a:r>
              <a:rPr lang="en-US" sz="1300" dirty="0">
                <a:solidFill>
                  <a:srgbClr val="2C3E50"/>
                </a:solidFill>
                <a:latin typeface="Calibri" pitchFamily="34" charset="0"/>
                <a:ea typeface="Calibri" pitchFamily="34" charset="-122"/>
                <a:cs typeface="Calibri" pitchFamily="34" charset="-120"/>
              </a:rPr>
              <a:t>Sajag Agrawal (25070123100)</a:t>
            </a:r>
            <a:endParaRPr lang="en-US" sz="1300" dirty="0"/>
          </a:p>
          <a:p>
            <a:pPr marL="0" indent="0" algn="ctr">
              <a:buNone/>
            </a:pPr>
            <a:endParaRPr lang="en-US" sz="1300" dirty="0"/>
          </a:p>
          <a:p>
            <a:pPr marL="0" indent="0" algn="ctr">
              <a:buNone/>
            </a:pPr>
            <a:r>
              <a:rPr lang="en-US" sz="1300" dirty="0">
                <a:solidFill>
                  <a:srgbClr val="2C3E50"/>
                </a:solidFill>
                <a:latin typeface="Calibri" pitchFamily="34" charset="0"/>
                <a:ea typeface="Calibri" pitchFamily="34" charset="-122"/>
                <a:cs typeface="Calibri" pitchFamily="34" charset="-120"/>
              </a:rPr>
              <a:t>Faculty Incharge: Mr. Anurag Mahajan</a:t>
            </a:r>
            <a:endParaRPr lang="en-US" sz="1300" dirty="0"/>
          </a:p>
        </p:txBody>
      </p:sp>
      <p:sp>
        <p:nvSpPr>
          <p:cNvPr id="18" name="Text 16"/>
          <p:cNvSpPr/>
          <p:nvPr/>
        </p:nvSpPr>
        <p:spPr>
          <a:xfrm>
            <a:off x="1371600" y="4480560"/>
            <a:ext cx="6400800" cy="457200"/>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Symbiosis Institute of Technology, Pune</a:t>
            </a:r>
            <a:endParaRPr lang="en-US" sz="1000" dirty="0"/>
          </a:p>
          <a:p>
            <a:pPr marL="0" indent="0" algn="ctr">
              <a:buNone/>
            </a:pPr>
            <a:r>
              <a:rPr lang="en-US" sz="1000" i="1" dirty="0">
                <a:solidFill>
                  <a:srgbClr val="888888"/>
                </a:solidFill>
                <a:latin typeface="Calibri" pitchFamily="34" charset="0"/>
                <a:ea typeface="Calibri" pitchFamily="34" charset="-122"/>
                <a:cs typeface="Calibri" pitchFamily="34" charset="-120"/>
              </a:rPr>
              <a:t>Dept. of Applied Science | First Year B.Tech | 2025-26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Introduction</a:t>
            </a:r>
            <a:endParaRPr lang="en-US" sz="3000" dirty="0"/>
          </a:p>
        </p:txBody>
      </p:sp>
      <p:sp>
        <p:nvSpPr>
          <p:cNvPr id="17" name="Text 15"/>
          <p:cNvSpPr/>
          <p:nvPr/>
        </p:nvSpPr>
        <p:spPr>
          <a:xfrm>
            <a:off x="457200" y="1005840"/>
            <a:ext cx="8229600" cy="91440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This Python project analyzes student academic data using the Pandas library. The dataset consists of 50 student records with information on Department, Attendance, GPA, Living arrangement, and Gender. The project processes, cleans, and analyzes this data to extract meaningful insights.</a:t>
            </a:r>
            <a:endParaRPr lang="en-US" sz="1400" dirty="0"/>
          </a:p>
        </p:txBody>
      </p:sp>
      <p:sp>
        <p:nvSpPr>
          <p:cNvPr id="18" name="Shape 16"/>
          <p:cNvSpPr/>
          <p:nvPr/>
        </p:nvSpPr>
        <p:spPr>
          <a:xfrm>
            <a:off x="365760" y="2011680"/>
            <a:ext cx="2651760" cy="2286000"/>
          </a:xfrm>
          <a:prstGeom prst="rect">
            <a:avLst/>
          </a:prstGeom>
          <a:solidFill>
            <a:srgbClr val="F4F6F9"/>
          </a:solidFill>
          <a:ln w="12700">
            <a:solidFill>
              <a:srgbClr val="D5D8DC"/>
            </a:solidFill>
            <a:prstDash val="solid"/>
          </a:ln>
        </p:spPr>
      </p:sp>
      <p:sp>
        <p:nvSpPr>
          <p:cNvPr id="19" name="Shape 17"/>
          <p:cNvSpPr/>
          <p:nvPr/>
        </p:nvSpPr>
        <p:spPr>
          <a:xfrm>
            <a:off x="365760" y="2011680"/>
            <a:ext cx="2651760" cy="64008"/>
          </a:xfrm>
          <a:prstGeom prst="rect">
            <a:avLst/>
          </a:prstGeom>
          <a:solidFill>
            <a:srgbClr val="B8860B"/>
          </a:solidFill>
          <a:ln w="12700">
            <a:solidFill>
              <a:srgbClr val="B8860B"/>
            </a:solidFill>
            <a:prstDash val="solid"/>
          </a:ln>
        </p:spPr>
      </p:sp>
      <p:sp>
        <p:nvSpPr>
          <p:cNvPr id="20" name="Text 18"/>
          <p:cNvSpPr/>
          <p:nvPr/>
        </p:nvSpPr>
        <p:spPr>
          <a:xfrm>
            <a:off x="502920" y="2057400"/>
            <a:ext cx="2377440" cy="411480"/>
          </a:xfrm>
          <a:prstGeom prst="rect">
            <a:avLst/>
          </a:prstGeom>
          <a:noFill/>
          <a:ln/>
        </p:spPr>
        <p:txBody>
          <a:bodyPr wrap="square" rtlCol="0" anchor="ctr"/>
          <a:lstStyle/>
          <a:p>
            <a:pPr marL="0" indent="0">
              <a:buNone/>
            </a:pPr>
            <a:r>
              <a:rPr lang="en-US" sz="1300" b="1" dirty="0">
                <a:solidFill>
                  <a:srgbClr val="1A2332"/>
                </a:solidFill>
                <a:latin typeface="Calibri" pitchFamily="34" charset="0"/>
                <a:ea typeface="Calibri" pitchFamily="34" charset="-122"/>
                <a:cs typeface="Calibri" pitchFamily="34" charset="-120"/>
              </a:rPr>
              <a:t>Data Manipulation</a:t>
            </a:r>
            <a:endParaRPr lang="en-US" sz="1300" dirty="0"/>
          </a:p>
        </p:txBody>
      </p:sp>
      <p:sp>
        <p:nvSpPr>
          <p:cNvPr id="21" name="Text 19"/>
          <p:cNvSpPr/>
          <p:nvPr/>
        </p:nvSpPr>
        <p:spPr>
          <a:xfrm>
            <a:off x="502920" y="2514600"/>
            <a:ext cx="2377440" cy="16459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Pandas &amp; NumPy for efficient data manipulation, analysis, and descriptive statistics.</a:t>
            </a:r>
            <a:endParaRPr lang="en-US" sz="1200" dirty="0"/>
          </a:p>
        </p:txBody>
      </p:sp>
      <p:sp>
        <p:nvSpPr>
          <p:cNvPr id="22" name="Shape 20"/>
          <p:cNvSpPr/>
          <p:nvPr/>
        </p:nvSpPr>
        <p:spPr>
          <a:xfrm>
            <a:off x="3200400" y="2011680"/>
            <a:ext cx="2651760" cy="2286000"/>
          </a:xfrm>
          <a:prstGeom prst="rect">
            <a:avLst/>
          </a:prstGeom>
          <a:solidFill>
            <a:srgbClr val="F4F6F9"/>
          </a:solidFill>
          <a:ln w="12700">
            <a:solidFill>
              <a:srgbClr val="D5D8DC"/>
            </a:solidFill>
            <a:prstDash val="solid"/>
          </a:ln>
        </p:spPr>
      </p:sp>
      <p:sp>
        <p:nvSpPr>
          <p:cNvPr id="23" name="Shape 21"/>
          <p:cNvSpPr/>
          <p:nvPr/>
        </p:nvSpPr>
        <p:spPr>
          <a:xfrm>
            <a:off x="3200400" y="2011680"/>
            <a:ext cx="2651760" cy="64008"/>
          </a:xfrm>
          <a:prstGeom prst="rect">
            <a:avLst/>
          </a:prstGeom>
          <a:solidFill>
            <a:srgbClr val="B8860B"/>
          </a:solidFill>
          <a:ln w="12700">
            <a:solidFill>
              <a:srgbClr val="B8860B"/>
            </a:solidFill>
            <a:prstDash val="solid"/>
          </a:ln>
        </p:spPr>
      </p:sp>
      <p:sp>
        <p:nvSpPr>
          <p:cNvPr id="24" name="Text 22"/>
          <p:cNvSpPr/>
          <p:nvPr/>
        </p:nvSpPr>
        <p:spPr>
          <a:xfrm>
            <a:off x="3337560" y="2057400"/>
            <a:ext cx="2377440" cy="411480"/>
          </a:xfrm>
          <a:prstGeom prst="rect">
            <a:avLst/>
          </a:prstGeom>
          <a:noFill/>
          <a:ln/>
        </p:spPr>
        <p:txBody>
          <a:bodyPr wrap="square" rtlCol="0" anchor="ctr"/>
          <a:lstStyle/>
          <a:p>
            <a:pPr marL="0" indent="0">
              <a:buNone/>
            </a:pPr>
            <a:r>
              <a:rPr lang="en-US" sz="1300" b="1" dirty="0">
                <a:solidFill>
                  <a:srgbClr val="1A2332"/>
                </a:solidFill>
                <a:latin typeface="Calibri" pitchFamily="34" charset="0"/>
                <a:ea typeface="Calibri" pitchFamily="34" charset="-122"/>
                <a:cs typeface="Calibri" pitchFamily="34" charset="-120"/>
              </a:rPr>
              <a:t>Analysis Techniques</a:t>
            </a:r>
            <a:endParaRPr lang="en-US" sz="1300" dirty="0"/>
          </a:p>
        </p:txBody>
      </p:sp>
      <p:sp>
        <p:nvSpPr>
          <p:cNvPr id="25" name="Text 23"/>
          <p:cNvSpPr/>
          <p:nvPr/>
        </p:nvSpPr>
        <p:spPr>
          <a:xfrm>
            <a:off x="3337560" y="2514600"/>
            <a:ext cx="2377440" cy="16459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Categorical analysis, cross-tabulation, grouping, filtering, sorting, and binning.</a:t>
            </a:r>
            <a:endParaRPr lang="en-US" sz="1200" dirty="0"/>
          </a:p>
        </p:txBody>
      </p:sp>
      <p:sp>
        <p:nvSpPr>
          <p:cNvPr id="26" name="Shape 24"/>
          <p:cNvSpPr/>
          <p:nvPr/>
        </p:nvSpPr>
        <p:spPr>
          <a:xfrm>
            <a:off x="6035040" y="2011680"/>
            <a:ext cx="2651760" cy="2286000"/>
          </a:xfrm>
          <a:prstGeom prst="rect">
            <a:avLst/>
          </a:prstGeom>
          <a:solidFill>
            <a:srgbClr val="F4F6F9"/>
          </a:solidFill>
          <a:ln w="12700">
            <a:solidFill>
              <a:srgbClr val="D5D8DC"/>
            </a:solidFill>
            <a:prstDash val="solid"/>
          </a:ln>
        </p:spPr>
      </p:sp>
      <p:sp>
        <p:nvSpPr>
          <p:cNvPr id="27" name="Shape 25"/>
          <p:cNvSpPr/>
          <p:nvPr/>
        </p:nvSpPr>
        <p:spPr>
          <a:xfrm>
            <a:off x="6035040" y="2011680"/>
            <a:ext cx="2651760" cy="64008"/>
          </a:xfrm>
          <a:prstGeom prst="rect">
            <a:avLst/>
          </a:prstGeom>
          <a:solidFill>
            <a:srgbClr val="B8860B"/>
          </a:solidFill>
          <a:ln w="12700">
            <a:solidFill>
              <a:srgbClr val="B8860B"/>
            </a:solidFill>
            <a:prstDash val="solid"/>
          </a:ln>
        </p:spPr>
      </p:sp>
      <p:sp>
        <p:nvSpPr>
          <p:cNvPr id="28" name="Text 26"/>
          <p:cNvSpPr/>
          <p:nvPr/>
        </p:nvSpPr>
        <p:spPr>
          <a:xfrm>
            <a:off x="6172200" y="2057400"/>
            <a:ext cx="2377440" cy="411480"/>
          </a:xfrm>
          <a:prstGeom prst="rect">
            <a:avLst/>
          </a:prstGeom>
          <a:noFill/>
          <a:ln/>
        </p:spPr>
        <p:txBody>
          <a:bodyPr wrap="square" rtlCol="0" anchor="ctr"/>
          <a:lstStyle/>
          <a:p>
            <a:pPr marL="0" indent="0">
              <a:buNone/>
            </a:pPr>
            <a:r>
              <a:rPr lang="en-US" sz="1300" b="1" dirty="0">
                <a:solidFill>
                  <a:srgbClr val="1A2332"/>
                </a:solidFill>
                <a:latin typeface="Calibri" pitchFamily="34" charset="0"/>
                <a:ea typeface="Calibri" pitchFamily="34" charset="-122"/>
                <a:cs typeface="Calibri" pitchFamily="34" charset="-120"/>
              </a:rPr>
              <a:t>Preprocessing</a:t>
            </a:r>
            <a:endParaRPr lang="en-US" sz="1300" dirty="0"/>
          </a:p>
        </p:txBody>
      </p:sp>
      <p:sp>
        <p:nvSpPr>
          <p:cNvPr id="29" name="Text 27"/>
          <p:cNvSpPr/>
          <p:nvPr/>
        </p:nvSpPr>
        <p:spPr>
          <a:xfrm>
            <a:off x="6172200" y="2514600"/>
            <a:ext cx="2377440" cy="16459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Missing value handling, binning, normalization, and encoding for clean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Objective of the Project</a:t>
            </a:r>
            <a:endParaRPr lang="en-US" sz="3000" dirty="0"/>
          </a:p>
        </p:txBody>
      </p:sp>
      <p:sp>
        <p:nvSpPr>
          <p:cNvPr id="17" name="Shape 15"/>
          <p:cNvSpPr/>
          <p:nvPr/>
        </p:nvSpPr>
        <p:spPr>
          <a:xfrm>
            <a:off x="365760" y="914400"/>
            <a:ext cx="502920" cy="502920"/>
          </a:xfrm>
          <a:prstGeom prst="rect">
            <a:avLst/>
          </a:prstGeom>
          <a:solidFill>
            <a:srgbClr val="1A2332"/>
          </a:solidFill>
          <a:ln w="12700">
            <a:solidFill>
              <a:srgbClr val="1A2332"/>
            </a:solidFill>
            <a:prstDash val="solid"/>
          </a:ln>
        </p:spPr>
      </p:sp>
      <p:sp>
        <p:nvSpPr>
          <p:cNvPr id="18" name="Text 16"/>
          <p:cNvSpPr/>
          <p:nvPr/>
        </p:nvSpPr>
        <p:spPr>
          <a:xfrm>
            <a:off x="365760" y="91440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01</a:t>
            </a:r>
            <a:endParaRPr lang="en-US" sz="1300" dirty="0"/>
          </a:p>
        </p:txBody>
      </p:sp>
      <p:sp>
        <p:nvSpPr>
          <p:cNvPr id="19" name="Text 17"/>
          <p:cNvSpPr/>
          <p:nvPr/>
        </p:nvSpPr>
        <p:spPr>
          <a:xfrm>
            <a:off x="960120" y="91440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Exploratory Data Analysis — Inspect structure, dimensions, data types, and basic statistics.</a:t>
            </a:r>
            <a:endParaRPr lang="en-US" sz="1150" dirty="0"/>
          </a:p>
        </p:txBody>
      </p:sp>
      <p:sp>
        <p:nvSpPr>
          <p:cNvPr id="20" name="Shape 18"/>
          <p:cNvSpPr/>
          <p:nvPr/>
        </p:nvSpPr>
        <p:spPr>
          <a:xfrm>
            <a:off x="365760" y="2148840"/>
            <a:ext cx="502920" cy="502920"/>
          </a:xfrm>
          <a:prstGeom prst="rect">
            <a:avLst/>
          </a:prstGeom>
          <a:solidFill>
            <a:srgbClr val="1A2332"/>
          </a:solidFill>
          <a:ln w="12700">
            <a:solidFill>
              <a:srgbClr val="1A2332"/>
            </a:solidFill>
            <a:prstDash val="solid"/>
          </a:ln>
        </p:spPr>
      </p:sp>
      <p:sp>
        <p:nvSpPr>
          <p:cNvPr id="21" name="Text 19"/>
          <p:cNvSpPr/>
          <p:nvPr/>
        </p:nvSpPr>
        <p:spPr>
          <a:xfrm>
            <a:off x="365760" y="214884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02</a:t>
            </a:r>
            <a:endParaRPr lang="en-US" sz="1300" dirty="0"/>
          </a:p>
        </p:txBody>
      </p:sp>
      <p:sp>
        <p:nvSpPr>
          <p:cNvPr id="22" name="Text 20"/>
          <p:cNvSpPr/>
          <p:nvPr/>
        </p:nvSpPr>
        <p:spPr>
          <a:xfrm>
            <a:off x="960120" y="214884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Categorical Data Analysis — Analyze Department, Gender, and Living arrangement distributions.</a:t>
            </a:r>
            <a:endParaRPr lang="en-US" sz="1150" dirty="0"/>
          </a:p>
        </p:txBody>
      </p:sp>
      <p:sp>
        <p:nvSpPr>
          <p:cNvPr id="23" name="Shape 21"/>
          <p:cNvSpPr/>
          <p:nvPr/>
        </p:nvSpPr>
        <p:spPr>
          <a:xfrm>
            <a:off x="365760" y="3383280"/>
            <a:ext cx="502920" cy="502920"/>
          </a:xfrm>
          <a:prstGeom prst="rect">
            <a:avLst/>
          </a:prstGeom>
          <a:solidFill>
            <a:srgbClr val="1A2332"/>
          </a:solidFill>
          <a:ln w="12700">
            <a:solidFill>
              <a:srgbClr val="1A2332"/>
            </a:solidFill>
            <a:prstDash val="solid"/>
          </a:ln>
        </p:spPr>
      </p:sp>
      <p:sp>
        <p:nvSpPr>
          <p:cNvPr id="24" name="Text 22"/>
          <p:cNvSpPr/>
          <p:nvPr/>
        </p:nvSpPr>
        <p:spPr>
          <a:xfrm>
            <a:off x="365760" y="338328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03</a:t>
            </a:r>
            <a:endParaRPr lang="en-US" sz="1300" dirty="0"/>
          </a:p>
        </p:txBody>
      </p:sp>
      <p:sp>
        <p:nvSpPr>
          <p:cNvPr id="25" name="Text 23"/>
          <p:cNvSpPr/>
          <p:nvPr/>
        </p:nvSpPr>
        <p:spPr>
          <a:xfrm>
            <a:off x="960120" y="338328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Missing Value Treatment — Handle GPA missing values via mean/median imputation.</a:t>
            </a:r>
            <a:endParaRPr lang="en-US" sz="1150" dirty="0"/>
          </a:p>
        </p:txBody>
      </p:sp>
      <p:sp>
        <p:nvSpPr>
          <p:cNvPr id="26" name="Shape 24"/>
          <p:cNvSpPr/>
          <p:nvPr/>
        </p:nvSpPr>
        <p:spPr>
          <a:xfrm>
            <a:off x="4846320" y="914400"/>
            <a:ext cx="502920" cy="502920"/>
          </a:xfrm>
          <a:prstGeom prst="rect">
            <a:avLst/>
          </a:prstGeom>
          <a:solidFill>
            <a:srgbClr val="1A2332"/>
          </a:solidFill>
          <a:ln w="12700">
            <a:solidFill>
              <a:srgbClr val="1A2332"/>
            </a:solidFill>
            <a:prstDash val="solid"/>
          </a:ln>
        </p:spPr>
      </p:sp>
      <p:sp>
        <p:nvSpPr>
          <p:cNvPr id="27" name="Text 25"/>
          <p:cNvSpPr/>
          <p:nvPr/>
        </p:nvSpPr>
        <p:spPr>
          <a:xfrm>
            <a:off x="4846320" y="91440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04</a:t>
            </a:r>
            <a:endParaRPr lang="en-US" sz="1300" dirty="0"/>
          </a:p>
        </p:txBody>
      </p:sp>
      <p:sp>
        <p:nvSpPr>
          <p:cNvPr id="28" name="Text 26"/>
          <p:cNvSpPr/>
          <p:nvPr/>
        </p:nvSpPr>
        <p:spPr>
          <a:xfrm>
            <a:off x="5440680" y="91440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Data Binning &amp; Formatting — Categorize attendance into Low, Medium, High bins.</a:t>
            </a:r>
            <a:endParaRPr lang="en-US" sz="1150" dirty="0"/>
          </a:p>
        </p:txBody>
      </p:sp>
      <p:sp>
        <p:nvSpPr>
          <p:cNvPr id="29" name="Shape 27"/>
          <p:cNvSpPr/>
          <p:nvPr/>
        </p:nvSpPr>
        <p:spPr>
          <a:xfrm>
            <a:off x="4846320" y="2148840"/>
            <a:ext cx="502920" cy="502920"/>
          </a:xfrm>
          <a:prstGeom prst="rect">
            <a:avLst/>
          </a:prstGeom>
          <a:solidFill>
            <a:srgbClr val="1A2332"/>
          </a:solidFill>
          <a:ln w="12700">
            <a:solidFill>
              <a:srgbClr val="1A2332"/>
            </a:solidFill>
            <a:prstDash val="solid"/>
          </a:ln>
        </p:spPr>
      </p:sp>
      <p:sp>
        <p:nvSpPr>
          <p:cNvPr id="30" name="Text 28"/>
          <p:cNvSpPr/>
          <p:nvPr/>
        </p:nvSpPr>
        <p:spPr>
          <a:xfrm>
            <a:off x="4846320" y="214884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05</a:t>
            </a:r>
            <a:endParaRPr lang="en-US" sz="1300" dirty="0"/>
          </a:p>
        </p:txBody>
      </p:sp>
      <p:sp>
        <p:nvSpPr>
          <p:cNvPr id="31" name="Text 29"/>
          <p:cNvSpPr/>
          <p:nvPr/>
        </p:nvSpPr>
        <p:spPr>
          <a:xfrm>
            <a:off x="5440680" y="214884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Normalization &amp; Encoding — Min-Max, Z-score, Label &amp; One-Hot Encoding.</a:t>
            </a:r>
            <a:endParaRPr lang="en-US" sz="1150" dirty="0"/>
          </a:p>
        </p:txBody>
      </p:sp>
      <p:sp>
        <p:nvSpPr>
          <p:cNvPr id="32" name="Shape 30"/>
          <p:cNvSpPr/>
          <p:nvPr/>
        </p:nvSpPr>
        <p:spPr>
          <a:xfrm>
            <a:off x="4846320" y="3383280"/>
            <a:ext cx="502920" cy="502920"/>
          </a:xfrm>
          <a:prstGeom prst="rect">
            <a:avLst/>
          </a:prstGeom>
          <a:solidFill>
            <a:srgbClr val="1A2332"/>
          </a:solidFill>
          <a:ln w="12700">
            <a:solidFill>
              <a:srgbClr val="1A2332"/>
            </a:solidFill>
            <a:prstDash val="solid"/>
          </a:ln>
        </p:spPr>
      </p:sp>
      <p:sp>
        <p:nvSpPr>
          <p:cNvPr id="33" name="Text 31"/>
          <p:cNvSpPr/>
          <p:nvPr/>
        </p:nvSpPr>
        <p:spPr>
          <a:xfrm>
            <a:off x="4846320" y="3383280"/>
            <a:ext cx="502920" cy="50292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5440680" y="3383280"/>
            <a:ext cx="3657600" cy="5029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Interactive Dashboard — Build multi-panel Plotly analytics dashboard with dropdown controls.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Raw Data</a:t>
            </a:r>
            <a:endParaRPr lang="en-US" sz="3000" dirty="0"/>
          </a:p>
        </p:txBody>
      </p:sp>
      <p:sp>
        <p:nvSpPr>
          <p:cNvPr id="17" name="Text 15"/>
          <p:cNvSpPr/>
          <p:nvPr/>
        </p:nvSpPr>
        <p:spPr>
          <a:xfrm>
            <a:off x="457200" y="914400"/>
            <a:ext cx="7772400" cy="6400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The dataset consists of 50 student records with 6 columns: Student_ID, Department, Attendance, GPA, Living, and Gender. The dataset covers 6 engineering departments. Average GPA: 8.01 | Average Attendance: 79.94%</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4114800" cy="274320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4747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Department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 of Students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extLst>
                  <a:ext uri="{0D108BD9-81ED-4DB2-BD59-A6C34878D82A}">
                    <a16:rowId xmlns:a16="http://schemas.microsoft.com/office/drawing/2014/main" val="10000"/>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AIML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Robotics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Mechanical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ENTC</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Civil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p:nvPr/>
        </p:nvSpPr>
        <p:spPr>
          <a:xfrm>
            <a:off x="4937760" y="1645920"/>
            <a:ext cx="3657600" cy="36576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Summary Statistics</a:t>
            </a:r>
            <a:endParaRPr lang="en-US" sz="1400" dirty="0"/>
          </a:p>
        </p:txBody>
      </p:sp>
      <p:graphicFrame>
        <p:nvGraphicFramePr>
          <p:cNvPr id="20" name="Table 1"/>
          <p:cNvGraphicFramePr>
            <a:graphicFrameLocks noGrp="1"/>
          </p:cNvGraphicFramePr>
          <p:nvPr>
            <p:extLst>
              <p:ext uri="{D42A27DB-BD31-4B8C-83A1-F6EECF244321}">
                <p14:modId xmlns:p14="http://schemas.microsoft.com/office/powerpoint/2010/main" val="1579011935"/>
              </p:ext>
            </p:extLst>
          </p:nvPr>
        </p:nvGraphicFramePr>
        <p:xfrm>
          <a:off x="4937760" y="2057400"/>
          <a:ext cx="3657600" cy="2286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3832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Statistic</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Attendance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GPA</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extLst>
                  <a:ext uri="{0D108BD9-81ED-4DB2-BD59-A6C34878D82A}">
                    <a16:rowId xmlns:a16="http://schemas.microsoft.com/office/drawing/2014/main" val="10000"/>
                  </a:ext>
                </a:extLst>
              </a:tr>
              <a:tr h="33832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79.94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8.01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6.30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80.50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7.95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Libraries &amp; Functions Used</a:t>
            </a:r>
            <a:endParaRPr lang="en-US" sz="3000" dirty="0"/>
          </a:p>
        </p:txBody>
      </p:sp>
      <p:sp>
        <p:nvSpPr>
          <p:cNvPr id="17" name="Shape 15"/>
          <p:cNvSpPr/>
          <p:nvPr/>
        </p:nvSpPr>
        <p:spPr>
          <a:xfrm>
            <a:off x="320040" y="960120"/>
            <a:ext cx="2743200" cy="457200"/>
          </a:xfrm>
          <a:prstGeom prst="rect">
            <a:avLst/>
          </a:prstGeom>
          <a:solidFill>
            <a:srgbClr val="1B4F72"/>
          </a:solidFill>
          <a:ln w="12700">
            <a:solidFill>
              <a:srgbClr val="1B4F72"/>
            </a:solidFill>
            <a:prstDash val="solid"/>
          </a:ln>
        </p:spPr>
      </p:sp>
      <p:sp>
        <p:nvSpPr>
          <p:cNvPr id="18" name="Text 16"/>
          <p:cNvSpPr/>
          <p:nvPr/>
        </p:nvSpPr>
        <p:spPr>
          <a:xfrm>
            <a:off x="320040" y="96012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Pandas</a:t>
            </a:r>
            <a:endParaRPr lang="en-US" sz="1250" dirty="0"/>
          </a:p>
        </p:txBody>
      </p:sp>
      <p:sp>
        <p:nvSpPr>
          <p:cNvPr id="19" name="Shape 17"/>
          <p:cNvSpPr/>
          <p:nvPr/>
        </p:nvSpPr>
        <p:spPr>
          <a:xfrm>
            <a:off x="320040" y="1417320"/>
            <a:ext cx="2743200" cy="1325880"/>
          </a:xfrm>
          <a:prstGeom prst="rect">
            <a:avLst/>
          </a:prstGeom>
          <a:solidFill>
            <a:srgbClr val="F4F6F9"/>
          </a:solidFill>
          <a:ln w="12700">
            <a:solidFill>
              <a:srgbClr val="D5D8DC"/>
            </a:solidFill>
            <a:prstDash val="solid"/>
          </a:ln>
        </p:spPr>
      </p:sp>
      <p:sp>
        <p:nvSpPr>
          <p:cNvPr id="20" name="Text 18"/>
          <p:cNvSpPr/>
          <p:nvPr/>
        </p:nvSpPr>
        <p:spPr>
          <a:xfrm>
            <a:off x="411480" y="146304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Data loading, cleaning, groupby, filtering, binning, and descriptive statistics.</a:t>
            </a:r>
            <a:endParaRPr lang="en-US" sz="1100" dirty="0"/>
          </a:p>
        </p:txBody>
      </p:sp>
      <p:sp>
        <p:nvSpPr>
          <p:cNvPr id="21" name="Shape 19"/>
          <p:cNvSpPr/>
          <p:nvPr/>
        </p:nvSpPr>
        <p:spPr>
          <a:xfrm>
            <a:off x="3200400" y="960120"/>
            <a:ext cx="2743200" cy="457200"/>
          </a:xfrm>
          <a:prstGeom prst="rect">
            <a:avLst/>
          </a:prstGeom>
          <a:solidFill>
            <a:srgbClr val="1A5276"/>
          </a:solidFill>
          <a:ln w="12700">
            <a:solidFill>
              <a:srgbClr val="1A5276"/>
            </a:solidFill>
            <a:prstDash val="solid"/>
          </a:ln>
        </p:spPr>
      </p:sp>
      <p:sp>
        <p:nvSpPr>
          <p:cNvPr id="22" name="Text 20"/>
          <p:cNvSpPr/>
          <p:nvPr/>
        </p:nvSpPr>
        <p:spPr>
          <a:xfrm>
            <a:off x="3200400" y="96012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Matplotlib</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&amp; Seaborn</a:t>
            </a:r>
            <a:endParaRPr lang="en-US" sz="1250" dirty="0"/>
          </a:p>
        </p:txBody>
      </p:sp>
      <p:sp>
        <p:nvSpPr>
          <p:cNvPr id="23" name="Shape 21"/>
          <p:cNvSpPr/>
          <p:nvPr/>
        </p:nvSpPr>
        <p:spPr>
          <a:xfrm>
            <a:off x="3200400" y="1417320"/>
            <a:ext cx="2743200" cy="1325880"/>
          </a:xfrm>
          <a:prstGeom prst="rect">
            <a:avLst/>
          </a:prstGeom>
          <a:solidFill>
            <a:srgbClr val="F4F6F9"/>
          </a:solidFill>
          <a:ln w="12700">
            <a:solidFill>
              <a:srgbClr val="D5D8DC"/>
            </a:solidFill>
            <a:prstDash val="solid"/>
          </a:ln>
        </p:spPr>
      </p:sp>
      <p:sp>
        <p:nvSpPr>
          <p:cNvPr id="24" name="Text 22"/>
          <p:cNvSpPr/>
          <p:nvPr/>
        </p:nvSpPr>
        <p:spPr>
          <a:xfrm>
            <a:off x="3291840" y="146304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Base styling for charts via plt.style.use() and sns.set_palette().</a:t>
            </a:r>
            <a:endParaRPr lang="en-US" sz="1100" dirty="0"/>
          </a:p>
        </p:txBody>
      </p:sp>
      <p:sp>
        <p:nvSpPr>
          <p:cNvPr id="25" name="Shape 23"/>
          <p:cNvSpPr/>
          <p:nvPr/>
        </p:nvSpPr>
        <p:spPr>
          <a:xfrm>
            <a:off x="6080760" y="960120"/>
            <a:ext cx="2743200" cy="457200"/>
          </a:xfrm>
          <a:prstGeom prst="rect">
            <a:avLst/>
          </a:prstGeom>
          <a:solidFill>
            <a:srgbClr val="145A32"/>
          </a:solidFill>
          <a:ln w="12700">
            <a:solidFill>
              <a:srgbClr val="145A32"/>
            </a:solidFill>
            <a:prstDash val="solid"/>
          </a:ln>
        </p:spPr>
      </p:sp>
      <p:sp>
        <p:nvSpPr>
          <p:cNvPr id="26" name="Text 24"/>
          <p:cNvSpPr/>
          <p:nvPr/>
        </p:nvSpPr>
        <p:spPr>
          <a:xfrm>
            <a:off x="6080760" y="96012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Scikit-learn</a:t>
            </a:r>
            <a:endParaRPr lang="en-US" sz="1250" dirty="0"/>
          </a:p>
        </p:txBody>
      </p:sp>
      <p:sp>
        <p:nvSpPr>
          <p:cNvPr id="27" name="Shape 25"/>
          <p:cNvSpPr/>
          <p:nvPr/>
        </p:nvSpPr>
        <p:spPr>
          <a:xfrm>
            <a:off x="6080760" y="1417320"/>
            <a:ext cx="2743200" cy="1325880"/>
          </a:xfrm>
          <a:prstGeom prst="rect">
            <a:avLst/>
          </a:prstGeom>
          <a:solidFill>
            <a:srgbClr val="F4F6F9"/>
          </a:solidFill>
          <a:ln w="12700">
            <a:solidFill>
              <a:srgbClr val="D5D8DC"/>
            </a:solidFill>
            <a:prstDash val="solid"/>
          </a:ln>
        </p:spPr>
      </p:sp>
      <p:sp>
        <p:nvSpPr>
          <p:cNvPr id="28" name="Text 26"/>
          <p:cNvSpPr/>
          <p:nvPr/>
        </p:nvSpPr>
        <p:spPr>
          <a:xfrm>
            <a:off x="6172200" y="146304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LabelEncoder to transform categorical Department into numeric codes for 3D plots.</a:t>
            </a:r>
            <a:endParaRPr lang="en-US" sz="1100" dirty="0"/>
          </a:p>
        </p:txBody>
      </p:sp>
      <p:sp>
        <p:nvSpPr>
          <p:cNvPr id="29" name="Shape 27"/>
          <p:cNvSpPr/>
          <p:nvPr/>
        </p:nvSpPr>
        <p:spPr>
          <a:xfrm>
            <a:off x="320040" y="2926080"/>
            <a:ext cx="2743200" cy="457200"/>
          </a:xfrm>
          <a:prstGeom prst="rect">
            <a:avLst/>
          </a:prstGeom>
          <a:solidFill>
            <a:srgbClr val="7D3C98"/>
          </a:solidFill>
          <a:ln w="12700">
            <a:solidFill>
              <a:srgbClr val="7D3C98"/>
            </a:solidFill>
            <a:prstDash val="solid"/>
          </a:ln>
        </p:spPr>
      </p:sp>
      <p:sp>
        <p:nvSpPr>
          <p:cNvPr id="30" name="Text 28"/>
          <p:cNvSpPr/>
          <p:nvPr/>
        </p:nvSpPr>
        <p:spPr>
          <a:xfrm>
            <a:off x="320040" y="292608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Plotly Express</a:t>
            </a:r>
            <a:endParaRPr lang="en-US" sz="1250" dirty="0"/>
          </a:p>
        </p:txBody>
      </p:sp>
      <p:sp>
        <p:nvSpPr>
          <p:cNvPr id="31" name="Shape 29"/>
          <p:cNvSpPr/>
          <p:nvPr/>
        </p:nvSpPr>
        <p:spPr>
          <a:xfrm>
            <a:off x="320040" y="3383280"/>
            <a:ext cx="2743200" cy="1325880"/>
          </a:xfrm>
          <a:prstGeom prst="rect">
            <a:avLst/>
          </a:prstGeom>
          <a:solidFill>
            <a:srgbClr val="F4F6F9"/>
          </a:solidFill>
          <a:ln w="12700">
            <a:solidFill>
              <a:srgbClr val="D5D8DC"/>
            </a:solidFill>
            <a:prstDash val="solid"/>
          </a:ln>
        </p:spPr>
      </p:sp>
      <p:sp>
        <p:nvSpPr>
          <p:cNvPr id="32" name="Text 30"/>
          <p:cNvSpPr/>
          <p:nvPr/>
        </p:nvSpPr>
        <p:spPr>
          <a:xfrm>
            <a:off x="411480" y="342900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High-level interactive charts: scatter, scatter_3d, sunburst with trendlines.</a:t>
            </a:r>
            <a:endParaRPr lang="en-US" sz="1100" dirty="0"/>
          </a:p>
        </p:txBody>
      </p:sp>
      <p:sp>
        <p:nvSpPr>
          <p:cNvPr id="33" name="Shape 31"/>
          <p:cNvSpPr/>
          <p:nvPr/>
        </p:nvSpPr>
        <p:spPr>
          <a:xfrm>
            <a:off x="3200400" y="2926080"/>
            <a:ext cx="2743200" cy="457200"/>
          </a:xfrm>
          <a:prstGeom prst="rect">
            <a:avLst/>
          </a:prstGeom>
          <a:solidFill>
            <a:srgbClr val="922B21"/>
          </a:solidFill>
          <a:ln w="12700">
            <a:solidFill>
              <a:srgbClr val="922B21"/>
            </a:solidFill>
            <a:prstDash val="solid"/>
          </a:ln>
        </p:spPr>
      </p:sp>
      <p:sp>
        <p:nvSpPr>
          <p:cNvPr id="34" name="Text 32"/>
          <p:cNvSpPr/>
          <p:nvPr/>
        </p:nvSpPr>
        <p:spPr>
          <a:xfrm>
            <a:off x="3200400" y="292608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Plotly Graph</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Objects (go)</a:t>
            </a:r>
            <a:endParaRPr lang="en-US" sz="1250" dirty="0"/>
          </a:p>
        </p:txBody>
      </p:sp>
      <p:sp>
        <p:nvSpPr>
          <p:cNvPr id="35" name="Shape 33"/>
          <p:cNvSpPr/>
          <p:nvPr/>
        </p:nvSpPr>
        <p:spPr>
          <a:xfrm>
            <a:off x="3200400" y="3383280"/>
            <a:ext cx="2743200" cy="1325880"/>
          </a:xfrm>
          <a:prstGeom prst="rect">
            <a:avLst/>
          </a:prstGeom>
          <a:solidFill>
            <a:srgbClr val="F4F6F9"/>
          </a:solidFill>
          <a:ln w="12700">
            <a:solidFill>
              <a:srgbClr val="D5D8DC"/>
            </a:solidFill>
            <a:prstDash val="solid"/>
          </a:ln>
        </p:spPr>
      </p:sp>
      <p:sp>
        <p:nvSpPr>
          <p:cNvPr id="36" name="Text 34"/>
          <p:cNvSpPr/>
          <p:nvPr/>
        </p:nvSpPr>
        <p:spPr>
          <a:xfrm>
            <a:off x="3291840" y="342900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Fine-grained control: bar, histogram, box, heatmap, and gauge/indicator charts.</a:t>
            </a:r>
            <a:endParaRPr lang="en-US" sz="1100" dirty="0"/>
          </a:p>
        </p:txBody>
      </p:sp>
      <p:sp>
        <p:nvSpPr>
          <p:cNvPr id="37" name="Shape 35"/>
          <p:cNvSpPr/>
          <p:nvPr/>
        </p:nvSpPr>
        <p:spPr>
          <a:xfrm>
            <a:off x="6080760" y="2926080"/>
            <a:ext cx="2743200" cy="457200"/>
          </a:xfrm>
          <a:prstGeom prst="rect">
            <a:avLst/>
          </a:prstGeom>
          <a:solidFill>
            <a:srgbClr val="6E2F1A"/>
          </a:solidFill>
          <a:ln w="12700">
            <a:solidFill>
              <a:srgbClr val="6E2F1A"/>
            </a:solidFill>
            <a:prstDash val="solid"/>
          </a:ln>
        </p:spPr>
      </p:sp>
      <p:sp>
        <p:nvSpPr>
          <p:cNvPr id="38" name="Text 36"/>
          <p:cNvSpPr/>
          <p:nvPr/>
        </p:nvSpPr>
        <p:spPr>
          <a:xfrm>
            <a:off x="6080760" y="2926080"/>
            <a:ext cx="27432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make_subplots</a:t>
            </a:r>
            <a:endParaRPr lang="en-US" sz="1250" dirty="0"/>
          </a:p>
        </p:txBody>
      </p:sp>
      <p:sp>
        <p:nvSpPr>
          <p:cNvPr id="39" name="Shape 37"/>
          <p:cNvSpPr/>
          <p:nvPr/>
        </p:nvSpPr>
        <p:spPr>
          <a:xfrm>
            <a:off x="6080760" y="3383280"/>
            <a:ext cx="2743200" cy="1325880"/>
          </a:xfrm>
          <a:prstGeom prst="rect">
            <a:avLst/>
          </a:prstGeom>
          <a:solidFill>
            <a:srgbClr val="F4F6F9"/>
          </a:solidFill>
          <a:ln w="12700">
            <a:solidFill>
              <a:srgbClr val="D5D8DC"/>
            </a:solidFill>
            <a:prstDash val="solid"/>
          </a:ln>
        </p:spPr>
      </p:sp>
      <p:sp>
        <p:nvSpPr>
          <p:cNvPr id="40" name="Text 38"/>
          <p:cNvSpPr/>
          <p:nvPr/>
        </p:nvSpPr>
        <p:spPr>
          <a:xfrm>
            <a:off x="6172200" y="3429000"/>
            <a:ext cx="2560320" cy="11887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Constructs the 2x3 analytics dashboard with six chart types in a unified layout.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Data Inspection</a:t>
            </a:r>
            <a:endParaRPr lang="en-US" sz="3000" dirty="0"/>
          </a:p>
        </p:txBody>
      </p:sp>
      <p:sp>
        <p:nvSpPr>
          <p:cNvPr id="17" name="Text 15"/>
          <p:cNvSpPr/>
          <p:nvPr/>
        </p:nvSpPr>
        <p:spPr>
          <a:xfrm>
            <a:off x="457200" y="914400"/>
            <a:ext cx="822960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Data inspection is the first step of any analysis pipeline — understanding the structure, size, and properties before any transformations.</a:t>
            </a:r>
            <a:endParaRPr lang="en-US" sz="1300" dirty="0"/>
          </a:p>
        </p:txBody>
      </p:sp>
      <p:sp>
        <p:nvSpPr>
          <p:cNvPr id="18" name="Shape 16"/>
          <p:cNvSpPr/>
          <p:nvPr/>
        </p:nvSpPr>
        <p:spPr>
          <a:xfrm>
            <a:off x="457200" y="1463040"/>
            <a:ext cx="4754880" cy="3200400"/>
          </a:xfrm>
          <a:prstGeom prst="rect">
            <a:avLst/>
          </a:prstGeom>
          <a:solidFill>
            <a:srgbClr val="1E1E2E"/>
          </a:solidFill>
          <a:ln w="12700">
            <a:solidFill>
              <a:srgbClr val="333355"/>
            </a:solidFill>
            <a:prstDash val="solid"/>
          </a:ln>
        </p:spPr>
      </p:sp>
      <p:sp>
        <p:nvSpPr>
          <p:cNvPr id="19" name="Text 17"/>
          <p:cNvSpPr/>
          <p:nvPr/>
        </p:nvSpPr>
        <p:spPr>
          <a:xfrm>
            <a:off x="548640" y="1554480"/>
            <a:ext cx="4572000" cy="3017520"/>
          </a:xfrm>
          <a:prstGeom prst="rect">
            <a:avLst/>
          </a:prstGeom>
          <a:noFill/>
          <a:ln/>
        </p:spPr>
        <p:txBody>
          <a:bodyPr wrap="square" rtlCol="0" anchor="ctr"/>
          <a:lstStyle/>
          <a:p>
            <a:pPr marL="0" indent="0">
              <a:buNone/>
            </a:pPr>
            <a:r>
              <a:rPr lang="en-US" sz="1050" dirty="0">
                <a:solidFill>
                  <a:srgbClr val="A8D8A8"/>
                </a:solidFill>
                <a:latin typeface="Courier New" pitchFamily="34" charset="0"/>
                <a:ea typeface="Courier New" pitchFamily="34" charset="-122"/>
                <a:cs typeface="Courier New" pitchFamily="34" charset="-120"/>
              </a:rPr>
              <a:t>df = pd.read_csv('raw_data_students.csv')</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df.size    # 300 (50 rows x 6 cols)</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df.shape   # (50, 6)</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df.info()  # Data types &amp; null counts</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df.head()  # First 5 rows</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df.isnull().sum()  # GPA: 2 missing</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df.describe()  # Summary statistics</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df.duplicated().sum()  # 0 duplicates</a:t>
            </a:r>
            <a:endParaRPr lang="en-US" sz="1050" dirty="0"/>
          </a:p>
          <a:p>
            <a:pPr marL="0" indent="0">
              <a:buNone/>
            </a:pPr>
            <a:r>
              <a:rPr lang="en-US" sz="1050" dirty="0">
                <a:solidFill>
                  <a:srgbClr val="A8D8A8"/>
                </a:solidFill>
                <a:latin typeface="Courier New" pitchFamily="34" charset="0"/>
                <a:ea typeface="Courier New" pitchFamily="34" charset="-122"/>
                <a:cs typeface="Courier New" pitchFamily="34" charset="-120"/>
              </a:rPr>
              <a:t>df.nunique()   # Unique values/column</a:t>
            </a:r>
            <a:endParaRPr lang="en-US" sz="1050" dirty="0"/>
          </a:p>
        </p:txBody>
      </p:sp>
      <p:sp>
        <p:nvSpPr>
          <p:cNvPr id="20" name="Text 18"/>
          <p:cNvSpPr/>
          <p:nvPr/>
        </p:nvSpPr>
        <p:spPr>
          <a:xfrm>
            <a:off x="5486400" y="1463040"/>
            <a:ext cx="3383280" cy="36576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Key Findings</a:t>
            </a:r>
            <a:endParaRPr lang="en-US" sz="1400" dirty="0"/>
          </a:p>
        </p:txBody>
      </p:sp>
      <p:sp>
        <p:nvSpPr>
          <p:cNvPr id="21" name="Text 19"/>
          <p:cNvSpPr/>
          <p:nvPr/>
        </p:nvSpPr>
        <p:spPr>
          <a:xfrm>
            <a:off x="5486400" y="1920240"/>
            <a:ext cx="3383280" cy="2743200"/>
          </a:xfrm>
          <a:prstGeom prst="rect">
            <a:avLst/>
          </a:prstGeom>
          <a:noFill/>
          <a:ln/>
        </p:spPr>
        <p:txBody>
          <a:bodyPr wrap="square" rtlCol="0" anchor="ctr"/>
          <a:lstStyle/>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50 rows, 6 columns</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0 duplicate records</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2 missing values in GPA column</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(Student10 &amp; Student17)</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All other columns complete</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Avg GPA: 8.01</a:t>
            </a:r>
            <a:endParaRPr lang="en-US" sz="1250" dirty="0"/>
          </a:p>
          <a:p>
            <a:pPr marL="342900" indent="-342900">
              <a:buSzPct val="100000"/>
              <a:buChar char="•"/>
            </a:pPr>
            <a:r>
              <a:rPr lang="en-US" sz="1250" dirty="0">
                <a:solidFill>
                  <a:srgbClr val="333333"/>
                </a:solidFill>
                <a:latin typeface="Calibri" pitchFamily="34" charset="0"/>
                <a:ea typeface="Calibri" pitchFamily="34" charset="-122"/>
                <a:cs typeface="Calibri" pitchFamily="34" charset="-120"/>
              </a:rPr>
              <a:t>Avg Attendance: 79.94%</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Categorical Data Analysis</a:t>
            </a:r>
            <a:endParaRPr lang="en-US" sz="3000" dirty="0"/>
          </a:p>
        </p:txBody>
      </p:sp>
      <p:sp>
        <p:nvSpPr>
          <p:cNvPr id="17" name="Text 15"/>
          <p:cNvSpPr/>
          <p:nvPr/>
        </p:nvSpPr>
        <p:spPr>
          <a:xfrm>
            <a:off x="457200" y="914400"/>
            <a:ext cx="822960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The three categorical columns — Department, Gender, and Living — were analyzed for distribution and cross-relationships.</a:t>
            </a:r>
            <a:endParaRPr lang="en-US" sz="1300" dirty="0"/>
          </a:p>
        </p:txBody>
      </p:sp>
      <p:sp>
        <p:nvSpPr>
          <p:cNvPr id="18" name="Shape 16"/>
          <p:cNvSpPr/>
          <p:nvPr/>
        </p:nvSpPr>
        <p:spPr>
          <a:xfrm>
            <a:off x="365760" y="1463040"/>
            <a:ext cx="1920240" cy="1005840"/>
          </a:xfrm>
          <a:prstGeom prst="rect">
            <a:avLst/>
          </a:prstGeom>
          <a:solidFill>
            <a:srgbClr val="1B4F72"/>
          </a:solidFill>
          <a:ln w="12700">
            <a:solidFill>
              <a:srgbClr val="1B4F72"/>
            </a:solidFill>
            <a:prstDash val="solid"/>
          </a:ln>
        </p:spPr>
      </p:sp>
      <p:sp>
        <p:nvSpPr>
          <p:cNvPr id="19" name="Text 17"/>
          <p:cNvSpPr/>
          <p:nvPr/>
        </p:nvSpPr>
        <p:spPr>
          <a:xfrm>
            <a:off x="365760" y="1508760"/>
            <a:ext cx="1920240" cy="54864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50%</a:t>
            </a:r>
            <a:endParaRPr lang="en-US" sz="2600" dirty="0"/>
          </a:p>
        </p:txBody>
      </p:sp>
      <p:sp>
        <p:nvSpPr>
          <p:cNvPr id="20" name="Text 18"/>
          <p:cNvSpPr/>
          <p:nvPr/>
        </p:nvSpPr>
        <p:spPr>
          <a:xfrm>
            <a:off x="365760" y="2011680"/>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Male Students</a:t>
            </a:r>
            <a:endParaRPr lang="en-US" sz="1100" dirty="0"/>
          </a:p>
        </p:txBody>
      </p:sp>
      <p:sp>
        <p:nvSpPr>
          <p:cNvPr id="21" name="Shape 19"/>
          <p:cNvSpPr/>
          <p:nvPr/>
        </p:nvSpPr>
        <p:spPr>
          <a:xfrm>
            <a:off x="2468880" y="1463040"/>
            <a:ext cx="1920240" cy="1005840"/>
          </a:xfrm>
          <a:prstGeom prst="rect">
            <a:avLst/>
          </a:prstGeom>
          <a:solidFill>
            <a:srgbClr val="7D3C98"/>
          </a:solidFill>
          <a:ln w="12700">
            <a:solidFill>
              <a:srgbClr val="7D3C98"/>
            </a:solidFill>
            <a:prstDash val="solid"/>
          </a:ln>
        </p:spPr>
      </p:sp>
      <p:sp>
        <p:nvSpPr>
          <p:cNvPr id="22" name="Text 20"/>
          <p:cNvSpPr/>
          <p:nvPr/>
        </p:nvSpPr>
        <p:spPr>
          <a:xfrm>
            <a:off x="2468880" y="1508760"/>
            <a:ext cx="1920240" cy="54864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50%</a:t>
            </a:r>
            <a:endParaRPr lang="en-US" sz="2600" dirty="0"/>
          </a:p>
        </p:txBody>
      </p:sp>
      <p:sp>
        <p:nvSpPr>
          <p:cNvPr id="23" name="Text 21"/>
          <p:cNvSpPr/>
          <p:nvPr/>
        </p:nvSpPr>
        <p:spPr>
          <a:xfrm>
            <a:off x="2468880" y="2011680"/>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Female Students</a:t>
            </a:r>
            <a:endParaRPr lang="en-US" sz="1100" dirty="0"/>
          </a:p>
        </p:txBody>
      </p:sp>
      <p:sp>
        <p:nvSpPr>
          <p:cNvPr id="24" name="Shape 22"/>
          <p:cNvSpPr/>
          <p:nvPr/>
        </p:nvSpPr>
        <p:spPr>
          <a:xfrm>
            <a:off x="4572000" y="1463040"/>
            <a:ext cx="1920240" cy="1005840"/>
          </a:xfrm>
          <a:prstGeom prst="rect">
            <a:avLst/>
          </a:prstGeom>
          <a:solidFill>
            <a:srgbClr val="145A32"/>
          </a:solidFill>
          <a:ln w="12700">
            <a:solidFill>
              <a:srgbClr val="145A32"/>
            </a:solidFill>
            <a:prstDash val="solid"/>
          </a:ln>
        </p:spPr>
      </p:sp>
      <p:sp>
        <p:nvSpPr>
          <p:cNvPr id="25" name="Text 23"/>
          <p:cNvSpPr/>
          <p:nvPr/>
        </p:nvSpPr>
        <p:spPr>
          <a:xfrm>
            <a:off x="4572000" y="1508760"/>
            <a:ext cx="1920240" cy="54864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50%</a:t>
            </a:r>
            <a:endParaRPr lang="en-US" sz="2600" dirty="0"/>
          </a:p>
        </p:txBody>
      </p:sp>
      <p:sp>
        <p:nvSpPr>
          <p:cNvPr id="26" name="Text 24"/>
          <p:cNvSpPr/>
          <p:nvPr/>
        </p:nvSpPr>
        <p:spPr>
          <a:xfrm>
            <a:off x="4572000" y="2011680"/>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Living at Home</a:t>
            </a:r>
            <a:endParaRPr lang="en-US" sz="1100" dirty="0"/>
          </a:p>
        </p:txBody>
      </p:sp>
      <p:sp>
        <p:nvSpPr>
          <p:cNvPr id="27" name="Shape 25"/>
          <p:cNvSpPr/>
          <p:nvPr/>
        </p:nvSpPr>
        <p:spPr>
          <a:xfrm>
            <a:off x="6675120" y="1463040"/>
            <a:ext cx="1920240" cy="1005840"/>
          </a:xfrm>
          <a:prstGeom prst="rect">
            <a:avLst/>
          </a:prstGeom>
          <a:solidFill>
            <a:srgbClr val="922B21"/>
          </a:solidFill>
          <a:ln w="12700">
            <a:solidFill>
              <a:srgbClr val="922B21"/>
            </a:solidFill>
            <a:prstDash val="solid"/>
          </a:ln>
        </p:spPr>
      </p:sp>
      <p:sp>
        <p:nvSpPr>
          <p:cNvPr id="28" name="Text 26"/>
          <p:cNvSpPr/>
          <p:nvPr/>
        </p:nvSpPr>
        <p:spPr>
          <a:xfrm>
            <a:off x="6675120" y="1508760"/>
            <a:ext cx="1920240" cy="54864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50%</a:t>
            </a:r>
            <a:endParaRPr lang="en-US" sz="2600" dirty="0"/>
          </a:p>
        </p:txBody>
      </p:sp>
      <p:sp>
        <p:nvSpPr>
          <p:cNvPr id="29" name="Text 27"/>
          <p:cNvSpPr/>
          <p:nvPr/>
        </p:nvSpPr>
        <p:spPr>
          <a:xfrm>
            <a:off x="6675120" y="2011680"/>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Living in PG</a:t>
            </a:r>
            <a:endParaRPr lang="en-US" sz="1100" dirty="0"/>
          </a:p>
        </p:txBody>
      </p:sp>
      <p:sp>
        <p:nvSpPr>
          <p:cNvPr id="30" name="Text 28"/>
          <p:cNvSpPr/>
          <p:nvPr/>
        </p:nvSpPr>
        <p:spPr>
          <a:xfrm>
            <a:off x="457200" y="2606040"/>
            <a:ext cx="8229600" cy="320040"/>
          </a:xfrm>
          <a:prstGeom prst="rect">
            <a:avLst/>
          </a:prstGeom>
          <a:noFill/>
          <a:ln/>
        </p:spPr>
        <p:txBody>
          <a:bodyPr wrap="square" rtlCol="0" anchor="ctr"/>
          <a:lstStyle/>
          <a:p>
            <a:pPr marL="0" indent="0">
              <a:buNone/>
            </a:pPr>
            <a:r>
              <a:rPr lang="en-US" sz="1300" b="1" dirty="0">
                <a:solidFill>
                  <a:srgbClr val="1A2332"/>
                </a:solidFill>
                <a:latin typeface="Calibri" pitchFamily="34" charset="0"/>
                <a:ea typeface="Calibri" pitchFamily="34" charset="-122"/>
                <a:cs typeface="Calibri" pitchFamily="34" charset="-120"/>
              </a:rPr>
              <a:t>Gender × Department Cross-tabulation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18288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4688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Department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extLst>
                  <a:ext uri="{0D108BD9-81ED-4DB2-BD59-A6C34878D82A}">
                    <a16:rowId xmlns:a16="http://schemas.microsoft.com/office/drawing/2014/main" val="10000"/>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AIML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Robotics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Mechanical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ENTC</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Civil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Missing Values &amp; Data Binning</a:t>
            </a:r>
            <a:endParaRPr lang="en-US" sz="3000" dirty="0"/>
          </a:p>
        </p:txBody>
      </p:sp>
      <p:sp>
        <p:nvSpPr>
          <p:cNvPr id="17" name="Text 15"/>
          <p:cNvSpPr/>
          <p:nvPr/>
        </p:nvSpPr>
        <p:spPr>
          <a:xfrm>
            <a:off x="457200" y="914400"/>
            <a:ext cx="4114800" cy="36576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Missing Value Treatment</a:t>
            </a:r>
            <a:endParaRPr lang="en-US" sz="1400" dirty="0"/>
          </a:p>
        </p:txBody>
      </p:sp>
      <p:sp>
        <p:nvSpPr>
          <p:cNvPr id="18" name="Shape 16"/>
          <p:cNvSpPr/>
          <p:nvPr/>
        </p:nvSpPr>
        <p:spPr>
          <a:xfrm>
            <a:off x="457200" y="1325880"/>
            <a:ext cx="4114800" cy="2468880"/>
          </a:xfrm>
          <a:prstGeom prst="rect">
            <a:avLst/>
          </a:prstGeom>
          <a:solidFill>
            <a:srgbClr val="1E1E2E"/>
          </a:solidFill>
          <a:ln w="12700">
            <a:solidFill>
              <a:srgbClr val="333355"/>
            </a:solidFill>
            <a:prstDash val="solid"/>
          </a:ln>
        </p:spPr>
      </p:sp>
      <p:sp>
        <p:nvSpPr>
          <p:cNvPr id="19" name="Text 17"/>
          <p:cNvSpPr/>
          <p:nvPr/>
        </p:nvSpPr>
        <p:spPr>
          <a:xfrm>
            <a:off x="548640" y="1417320"/>
            <a:ext cx="3931920" cy="2286000"/>
          </a:xfrm>
          <a:prstGeom prst="rect">
            <a:avLst/>
          </a:prstGeom>
          <a:noFill/>
          <a:ln/>
        </p:spPr>
        <p:txBody>
          <a:bodyPr wrap="square" rtlCol="0" anchor="ctr"/>
          <a:lstStyle/>
          <a:p>
            <a:pPr marL="0" indent="0">
              <a:buNone/>
            </a:pPr>
            <a:r>
              <a:rPr lang="en-US" sz="1000" dirty="0">
                <a:solidFill>
                  <a:srgbClr val="A8D8A8"/>
                </a:solidFill>
                <a:latin typeface="Courier New" pitchFamily="34" charset="0"/>
                <a:ea typeface="Courier New" pitchFamily="34" charset="-122"/>
                <a:cs typeface="Courier New" pitchFamily="34" charset="-120"/>
              </a:rPr>
              <a:t>df.isna().sum()       # GPA: 2</a:t>
            </a: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df.dropna()           # Drop rows</a:t>
            </a: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df.fillna(df.mean())  # Fill mean</a:t>
            </a:r>
            <a:endParaRPr lang="en-US" sz="1000" dirty="0"/>
          </a:p>
          <a:p>
            <a:pPr marL="0" indent="0">
              <a:buNone/>
            </a:pP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 Impute GPA with mean</a:t>
            </a: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df['GPA'].fillna(</a:t>
            </a: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  df['GPA'].mean(), inplace=True</a:t>
            </a:r>
            <a:endParaRPr lang="en-US" sz="1000" dirty="0"/>
          </a:p>
          <a:p>
            <a:pPr marL="0" indent="0">
              <a:buNone/>
            </a:pPr>
            <a:r>
              <a:rPr lang="en-US" sz="1000" dirty="0">
                <a:solidFill>
                  <a:srgbClr val="A8D8A8"/>
                </a:solidFill>
                <a:latin typeface="Courier New" pitchFamily="34" charset="0"/>
                <a:ea typeface="Courier New" pitchFamily="34" charset="-122"/>
                <a:cs typeface="Courier New" pitchFamily="34" charset="-120"/>
              </a:rPr>
              <a:t>)</a:t>
            </a:r>
            <a:endParaRPr lang="en-US" sz="1000" dirty="0"/>
          </a:p>
        </p:txBody>
      </p:sp>
      <p:sp>
        <p:nvSpPr>
          <p:cNvPr id="20" name="Text 18"/>
          <p:cNvSpPr/>
          <p:nvPr/>
        </p:nvSpPr>
        <p:spPr>
          <a:xfrm>
            <a:off x="4846320" y="914400"/>
            <a:ext cx="4023360" cy="36576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Attendance Binning</a:t>
            </a:r>
            <a:endParaRPr lang="en-US" sz="1400" dirty="0"/>
          </a:p>
        </p:txBody>
      </p:sp>
      <p:sp>
        <p:nvSpPr>
          <p:cNvPr id="21" name="Shape 19"/>
          <p:cNvSpPr/>
          <p:nvPr/>
        </p:nvSpPr>
        <p:spPr>
          <a:xfrm>
            <a:off x="4846320" y="1417320"/>
            <a:ext cx="1005840" cy="548640"/>
          </a:xfrm>
          <a:prstGeom prst="rect">
            <a:avLst/>
          </a:prstGeom>
          <a:solidFill>
            <a:srgbClr val="E74C3C"/>
          </a:solidFill>
          <a:ln w="12700">
            <a:solidFill>
              <a:srgbClr val="E74C3C"/>
            </a:solidFill>
            <a:prstDash val="solid"/>
          </a:ln>
        </p:spPr>
      </p:sp>
      <p:sp>
        <p:nvSpPr>
          <p:cNvPr id="22" name="Text 20"/>
          <p:cNvSpPr/>
          <p:nvPr/>
        </p:nvSpPr>
        <p:spPr>
          <a:xfrm>
            <a:off x="4846320" y="1417320"/>
            <a:ext cx="100584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Low</a:t>
            </a:r>
            <a:endParaRPr lang="en-US" sz="1200" dirty="0"/>
          </a:p>
        </p:txBody>
      </p:sp>
      <p:sp>
        <p:nvSpPr>
          <p:cNvPr id="23" name="Text 21"/>
          <p:cNvSpPr/>
          <p:nvPr/>
        </p:nvSpPr>
        <p:spPr>
          <a:xfrm>
            <a:off x="5943600" y="1463040"/>
            <a:ext cx="283464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60 – 70   →   15 students</a:t>
            </a:r>
            <a:endParaRPr lang="en-US" sz="1300" dirty="0"/>
          </a:p>
        </p:txBody>
      </p:sp>
      <p:sp>
        <p:nvSpPr>
          <p:cNvPr id="24" name="Shape 22"/>
          <p:cNvSpPr/>
          <p:nvPr/>
        </p:nvSpPr>
        <p:spPr>
          <a:xfrm>
            <a:off x="4846320" y="2194560"/>
            <a:ext cx="1005840" cy="548640"/>
          </a:xfrm>
          <a:prstGeom prst="rect">
            <a:avLst/>
          </a:prstGeom>
          <a:solidFill>
            <a:srgbClr val="F39C12"/>
          </a:solidFill>
          <a:ln w="12700">
            <a:solidFill>
              <a:srgbClr val="F39C12"/>
            </a:solidFill>
            <a:prstDash val="solid"/>
          </a:ln>
        </p:spPr>
      </p:sp>
      <p:sp>
        <p:nvSpPr>
          <p:cNvPr id="25" name="Text 23"/>
          <p:cNvSpPr/>
          <p:nvPr/>
        </p:nvSpPr>
        <p:spPr>
          <a:xfrm>
            <a:off x="4846320" y="2194560"/>
            <a:ext cx="100584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Medium</a:t>
            </a:r>
            <a:endParaRPr lang="en-US" sz="1200" dirty="0"/>
          </a:p>
        </p:txBody>
      </p:sp>
      <p:sp>
        <p:nvSpPr>
          <p:cNvPr id="26" name="Text 24"/>
          <p:cNvSpPr/>
          <p:nvPr/>
        </p:nvSpPr>
        <p:spPr>
          <a:xfrm>
            <a:off x="5943600" y="2240280"/>
            <a:ext cx="283464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71 – 85   →   20 students</a:t>
            </a:r>
            <a:endParaRPr lang="en-US" sz="1300" dirty="0"/>
          </a:p>
        </p:txBody>
      </p:sp>
      <p:sp>
        <p:nvSpPr>
          <p:cNvPr id="27" name="Shape 25"/>
          <p:cNvSpPr/>
          <p:nvPr/>
        </p:nvSpPr>
        <p:spPr>
          <a:xfrm>
            <a:off x="4846320" y="2971800"/>
            <a:ext cx="1005840" cy="548640"/>
          </a:xfrm>
          <a:prstGeom prst="rect">
            <a:avLst/>
          </a:prstGeom>
          <a:solidFill>
            <a:srgbClr val="27AE60"/>
          </a:solidFill>
          <a:ln w="12700">
            <a:solidFill>
              <a:srgbClr val="27AE60"/>
            </a:solidFill>
            <a:prstDash val="solid"/>
          </a:ln>
        </p:spPr>
      </p:sp>
      <p:sp>
        <p:nvSpPr>
          <p:cNvPr id="28" name="Text 26"/>
          <p:cNvSpPr/>
          <p:nvPr/>
        </p:nvSpPr>
        <p:spPr>
          <a:xfrm>
            <a:off x="4846320" y="2971800"/>
            <a:ext cx="100584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29" name="Text 27"/>
          <p:cNvSpPr/>
          <p:nvPr/>
        </p:nvSpPr>
        <p:spPr>
          <a:xfrm>
            <a:off x="5943600" y="3017520"/>
            <a:ext cx="283464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86 – 97   →   15 students</a:t>
            </a:r>
            <a:endParaRPr lang="en-US" sz="1300" dirty="0"/>
          </a:p>
        </p:txBody>
      </p:sp>
      <p:sp>
        <p:nvSpPr>
          <p:cNvPr id="30" name="Text 28"/>
          <p:cNvSpPr/>
          <p:nvPr/>
        </p:nvSpPr>
        <p:spPr>
          <a:xfrm>
            <a:off x="4846320" y="3794760"/>
            <a:ext cx="4023360" cy="411480"/>
          </a:xfrm>
          <a:prstGeom prst="rect">
            <a:avLst/>
          </a:prstGeom>
          <a:noFill/>
          <a:ln/>
        </p:spPr>
        <p:txBody>
          <a:bodyPr wrap="square"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Students with High attendance: mainly ENTC &amp; CS departments</a:t>
            </a:r>
            <a:endParaRPr lang="en-US" sz="1100" dirty="0"/>
          </a:p>
        </p:txBody>
      </p:sp>
      <p:sp>
        <p:nvSpPr>
          <p:cNvPr id="31" name="Shape 29"/>
          <p:cNvSpPr/>
          <p:nvPr/>
        </p:nvSpPr>
        <p:spPr>
          <a:xfrm>
            <a:off x="457200" y="3886200"/>
            <a:ext cx="4114800" cy="640080"/>
          </a:xfrm>
          <a:prstGeom prst="rect">
            <a:avLst/>
          </a:prstGeom>
          <a:solidFill>
            <a:srgbClr val="EAF4FB"/>
          </a:solidFill>
          <a:ln w="12700">
            <a:solidFill>
              <a:srgbClr val="AED6F1"/>
            </a:solidFill>
            <a:prstDash val="solid"/>
          </a:ln>
        </p:spPr>
      </p:sp>
      <p:sp>
        <p:nvSpPr>
          <p:cNvPr id="32" name="Text 30"/>
          <p:cNvSpPr/>
          <p:nvPr/>
        </p:nvSpPr>
        <p:spPr>
          <a:xfrm>
            <a:off x="548640" y="3931920"/>
            <a:ext cx="3840480" cy="548640"/>
          </a:xfrm>
          <a:prstGeom prst="rect">
            <a:avLst/>
          </a:prstGeom>
          <a:noFill/>
          <a:ln/>
        </p:spPr>
        <p:txBody>
          <a:bodyPr wrap="square" rtlCol="0" anchor="ctr"/>
          <a:lstStyle/>
          <a:p>
            <a:pPr marL="0" indent="0">
              <a:buNone/>
            </a:pPr>
            <a:r>
              <a:rPr lang="en-US" sz="1100" dirty="0">
                <a:solidFill>
                  <a:srgbClr val="1A2332"/>
                </a:solidFill>
                <a:latin typeface="Calibri" pitchFamily="34" charset="0"/>
                <a:ea typeface="Calibri" pitchFamily="34" charset="-122"/>
                <a:cs typeface="Calibri" pitchFamily="34" charset="-120"/>
              </a:rPr>
              <a:t>GPA missing values (Student10 &amp; Student17) imputed with mean GPA = 8.01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Normalization &amp; Encoding</a:t>
            </a:r>
            <a:endParaRPr lang="en-US" sz="3000" dirty="0"/>
          </a:p>
        </p:txBody>
      </p:sp>
      <p:sp>
        <p:nvSpPr>
          <p:cNvPr id="17" name="Text 15"/>
          <p:cNvSpPr/>
          <p:nvPr/>
        </p:nvSpPr>
        <p:spPr>
          <a:xfrm>
            <a:off x="457200" y="914400"/>
            <a:ext cx="82296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Normalization rescales data for ML models; encoding converts categorical variables to numerical representations.</a:t>
            </a:r>
            <a:endParaRPr lang="en-US" sz="1300" dirty="0"/>
          </a:p>
        </p:txBody>
      </p:sp>
      <p:sp>
        <p:nvSpPr>
          <p:cNvPr id="18" name="Shape 16"/>
          <p:cNvSpPr/>
          <p:nvPr/>
        </p:nvSpPr>
        <p:spPr>
          <a:xfrm>
            <a:off x="320040" y="1463040"/>
            <a:ext cx="2743200" cy="411480"/>
          </a:xfrm>
          <a:prstGeom prst="rect">
            <a:avLst/>
          </a:prstGeom>
          <a:solidFill>
            <a:srgbClr val="1B4F72"/>
          </a:solidFill>
          <a:ln w="12700">
            <a:solidFill>
              <a:srgbClr val="1B4F72"/>
            </a:solidFill>
            <a:prstDash val="solid"/>
          </a:ln>
        </p:spPr>
      </p:sp>
      <p:sp>
        <p:nvSpPr>
          <p:cNvPr id="19" name="Text 17"/>
          <p:cNvSpPr/>
          <p:nvPr/>
        </p:nvSpPr>
        <p:spPr>
          <a:xfrm>
            <a:off x="320040" y="14630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Min-Max Normalization</a:t>
            </a:r>
            <a:endParaRPr lang="en-US" sz="1100" dirty="0"/>
          </a:p>
        </p:txBody>
      </p:sp>
      <p:sp>
        <p:nvSpPr>
          <p:cNvPr id="20" name="Shape 18"/>
          <p:cNvSpPr/>
          <p:nvPr/>
        </p:nvSpPr>
        <p:spPr>
          <a:xfrm>
            <a:off x="320040" y="1874520"/>
            <a:ext cx="2743200" cy="1234440"/>
          </a:xfrm>
          <a:prstGeom prst="rect">
            <a:avLst/>
          </a:prstGeom>
          <a:solidFill>
            <a:srgbClr val="F4F6F9"/>
          </a:solidFill>
          <a:ln w="12700">
            <a:solidFill>
              <a:srgbClr val="D5D8DC"/>
            </a:solidFill>
            <a:prstDash val="solid"/>
          </a:ln>
        </p:spPr>
      </p:sp>
      <p:sp>
        <p:nvSpPr>
          <p:cNvPr id="21" name="Text 19"/>
          <p:cNvSpPr/>
          <p:nvPr/>
        </p:nvSpPr>
        <p:spPr>
          <a:xfrm>
            <a:off x="411480" y="19202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Scales GPA to [0, 1] range.</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Formula: (x − min) / (max − min)</a:t>
            </a:r>
            <a:endParaRPr lang="en-US" sz="1100" dirty="0"/>
          </a:p>
        </p:txBody>
      </p:sp>
      <p:sp>
        <p:nvSpPr>
          <p:cNvPr id="22" name="Shape 20"/>
          <p:cNvSpPr/>
          <p:nvPr/>
        </p:nvSpPr>
        <p:spPr>
          <a:xfrm>
            <a:off x="3200400" y="1463040"/>
            <a:ext cx="2743200" cy="411480"/>
          </a:xfrm>
          <a:prstGeom prst="rect">
            <a:avLst/>
          </a:prstGeom>
          <a:solidFill>
            <a:srgbClr val="145A32"/>
          </a:solidFill>
          <a:ln w="12700">
            <a:solidFill>
              <a:srgbClr val="145A32"/>
            </a:solidFill>
            <a:prstDash val="solid"/>
          </a:ln>
        </p:spPr>
      </p:sp>
      <p:sp>
        <p:nvSpPr>
          <p:cNvPr id="23" name="Text 21"/>
          <p:cNvSpPr/>
          <p:nvPr/>
        </p:nvSpPr>
        <p:spPr>
          <a:xfrm>
            <a:off x="3200400" y="14630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Z-score Normalization</a:t>
            </a:r>
            <a:endParaRPr lang="en-US" sz="1100" dirty="0"/>
          </a:p>
        </p:txBody>
      </p:sp>
      <p:sp>
        <p:nvSpPr>
          <p:cNvPr id="24" name="Shape 22"/>
          <p:cNvSpPr/>
          <p:nvPr/>
        </p:nvSpPr>
        <p:spPr>
          <a:xfrm>
            <a:off x="3200400" y="1874520"/>
            <a:ext cx="2743200" cy="1234440"/>
          </a:xfrm>
          <a:prstGeom prst="rect">
            <a:avLst/>
          </a:prstGeom>
          <a:solidFill>
            <a:srgbClr val="F4F6F9"/>
          </a:solidFill>
          <a:ln w="12700">
            <a:solidFill>
              <a:srgbClr val="D5D8DC"/>
            </a:solidFill>
            <a:prstDash val="solid"/>
          </a:ln>
        </p:spPr>
      </p:sp>
      <p:sp>
        <p:nvSpPr>
          <p:cNvPr id="25" name="Text 23"/>
          <p:cNvSpPr/>
          <p:nvPr/>
        </p:nvSpPr>
        <p:spPr>
          <a:xfrm>
            <a:off x="3291840" y="19202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Standardizes GPA: mean=0, std=1.</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Formula: (x − mean) / std</a:t>
            </a:r>
            <a:endParaRPr lang="en-US" sz="1100" dirty="0"/>
          </a:p>
        </p:txBody>
      </p:sp>
      <p:sp>
        <p:nvSpPr>
          <p:cNvPr id="26" name="Shape 24"/>
          <p:cNvSpPr/>
          <p:nvPr/>
        </p:nvSpPr>
        <p:spPr>
          <a:xfrm>
            <a:off x="6080760" y="1463040"/>
            <a:ext cx="2743200" cy="411480"/>
          </a:xfrm>
          <a:prstGeom prst="rect">
            <a:avLst/>
          </a:prstGeom>
          <a:solidFill>
            <a:srgbClr val="7D3C98"/>
          </a:solidFill>
          <a:ln w="12700">
            <a:solidFill>
              <a:srgbClr val="7D3C98"/>
            </a:solidFill>
            <a:prstDash val="solid"/>
          </a:ln>
        </p:spPr>
      </p:sp>
      <p:sp>
        <p:nvSpPr>
          <p:cNvPr id="27" name="Text 25"/>
          <p:cNvSpPr/>
          <p:nvPr/>
        </p:nvSpPr>
        <p:spPr>
          <a:xfrm>
            <a:off x="6080760" y="14630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Decimal Scaling</a:t>
            </a:r>
            <a:endParaRPr lang="en-US" sz="1100" dirty="0"/>
          </a:p>
        </p:txBody>
      </p:sp>
      <p:sp>
        <p:nvSpPr>
          <p:cNvPr id="28" name="Shape 26"/>
          <p:cNvSpPr/>
          <p:nvPr/>
        </p:nvSpPr>
        <p:spPr>
          <a:xfrm>
            <a:off x="6080760" y="1874520"/>
            <a:ext cx="2743200" cy="1234440"/>
          </a:xfrm>
          <a:prstGeom prst="rect">
            <a:avLst/>
          </a:prstGeom>
          <a:solidFill>
            <a:srgbClr val="F4F6F9"/>
          </a:solidFill>
          <a:ln w="12700">
            <a:solidFill>
              <a:srgbClr val="D5D8DC"/>
            </a:solidFill>
            <a:prstDash val="solid"/>
          </a:ln>
        </p:spPr>
      </p:sp>
      <p:sp>
        <p:nvSpPr>
          <p:cNvPr id="29" name="Text 27"/>
          <p:cNvSpPr/>
          <p:nvPr/>
        </p:nvSpPr>
        <p:spPr>
          <a:xfrm>
            <a:off x="6172200" y="19202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Scales GPA by dividing by 100,000 for uniform magnitude reduction.</a:t>
            </a:r>
            <a:endParaRPr lang="en-US" sz="1100" dirty="0"/>
          </a:p>
        </p:txBody>
      </p:sp>
      <p:sp>
        <p:nvSpPr>
          <p:cNvPr id="30" name="Shape 28"/>
          <p:cNvSpPr/>
          <p:nvPr/>
        </p:nvSpPr>
        <p:spPr>
          <a:xfrm>
            <a:off x="320040" y="3291840"/>
            <a:ext cx="2743200" cy="411480"/>
          </a:xfrm>
          <a:prstGeom prst="rect">
            <a:avLst/>
          </a:prstGeom>
          <a:solidFill>
            <a:srgbClr val="922B21"/>
          </a:solidFill>
          <a:ln w="12700">
            <a:solidFill>
              <a:srgbClr val="922B21"/>
            </a:solidFill>
            <a:prstDash val="solid"/>
          </a:ln>
        </p:spPr>
      </p:sp>
      <p:sp>
        <p:nvSpPr>
          <p:cNvPr id="31" name="Text 29"/>
          <p:cNvSpPr/>
          <p:nvPr/>
        </p:nvSpPr>
        <p:spPr>
          <a:xfrm>
            <a:off x="320040" y="32918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Label Encoding</a:t>
            </a:r>
            <a:endParaRPr lang="en-US" sz="1100" dirty="0"/>
          </a:p>
        </p:txBody>
      </p:sp>
      <p:sp>
        <p:nvSpPr>
          <p:cNvPr id="32" name="Shape 30"/>
          <p:cNvSpPr/>
          <p:nvPr/>
        </p:nvSpPr>
        <p:spPr>
          <a:xfrm>
            <a:off x="320040" y="3703320"/>
            <a:ext cx="2743200" cy="1234440"/>
          </a:xfrm>
          <a:prstGeom prst="rect">
            <a:avLst/>
          </a:prstGeom>
          <a:solidFill>
            <a:srgbClr val="F4F6F9"/>
          </a:solidFill>
          <a:ln w="12700">
            <a:solidFill>
              <a:srgbClr val="D5D8DC"/>
            </a:solidFill>
            <a:prstDash val="solid"/>
          </a:ln>
        </p:spPr>
      </p:sp>
      <p:sp>
        <p:nvSpPr>
          <p:cNvPr id="33" name="Text 31"/>
          <p:cNvSpPr/>
          <p:nvPr/>
        </p:nvSpPr>
        <p:spPr>
          <a:xfrm>
            <a:off x="411480" y="37490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Converts Department names to integer codes (0–5) using sklearn LabelEncoder.</a:t>
            </a:r>
            <a:endParaRPr lang="en-US" sz="1100" dirty="0"/>
          </a:p>
        </p:txBody>
      </p:sp>
      <p:sp>
        <p:nvSpPr>
          <p:cNvPr id="34" name="Shape 32"/>
          <p:cNvSpPr/>
          <p:nvPr/>
        </p:nvSpPr>
        <p:spPr>
          <a:xfrm>
            <a:off x="3200400" y="3291840"/>
            <a:ext cx="2743200" cy="411480"/>
          </a:xfrm>
          <a:prstGeom prst="rect">
            <a:avLst/>
          </a:prstGeom>
          <a:solidFill>
            <a:srgbClr val="6E2F1A"/>
          </a:solidFill>
          <a:ln w="12700">
            <a:solidFill>
              <a:srgbClr val="6E2F1A"/>
            </a:solidFill>
            <a:prstDash val="solid"/>
          </a:ln>
        </p:spPr>
      </p:sp>
      <p:sp>
        <p:nvSpPr>
          <p:cNvPr id="35" name="Text 33"/>
          <p:cNvSpPr/>
          <p:nvPr/>
        </p:nvSpPr>
        <p:spPr>
          <a:xfrm>
            <a:off x="3200400" y="32918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One-Hot Encoding</a:t>
            </a:r>
            <a:endParaRPr lang="en-US" sz="1100" dirty="0"/>
          </a:p>
        </p:txBody>
      </p:sp>
      <p:sp>
        <p:nvSpPr>
          <p:cNvPr id="36" name="Shape 34"/>
          <p:cNvSpPr/>
          <p:nvPr/>
        </p:nvSpPr>
        <p:spPr>
          <a:xfrm>
            <a:off x="3200400" y="3703320"/>
            <a:ext cx="2743200" cy="1234440"/>
          </a:xfrm>
          <a:prstGeom prst="rect">
            <a:avLst/>
          </a:prstGeom>
          <a:solidFill>
            <a:srgbClr val="F4F6F9"/>
          </a:solidFill>
          <a:ln w="12700">
            <a:solidFill>
              <a:srgbClr val="D5D8DC"/>
            </a:solidFill>
            <a:prstDash val="solid"/>
          </a:ln>
        </p:spPr>
      </p:sp>
      <p:sp>
        <p:nvSpPr>
          <p:cNvPr id="37" name="Text 35"/>
          <p:cNvSpPr/>
          <p:nvPr/>
        </p:nvSpPr>
        <p:spPr>
          <a:xfrm>
            <a:off x="3291840" y="37490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Creates binary columns for each department. Used for regression/classification.</a:t>
            </a:r>
            <a:endParaRPr lang="en-US" sz="1100" dirty="0"/>
          </a:p>
        </p:txBody>
      </p:sp>
      <p:sp>
        <p:nvSpPr>
          <p:cNvPr id="38" name="Shape 36"/>
          <p:cNvSpPr/>
          <p:nvPr/>
        </p:nvSpPr>
        <p:spPr>
          <a:xfrm>
            <a:off x="6080760" y="3291840"/>
            <a:ext cx="2743200" cy="411480"/>
          </a:xfrm>
          <a:prstGeom prst="rect">
            <a:avLst/>
          </a:prstGeom>
          <a:solidFill>
            <a:srgbClr val="1A5276"/>
          </a:solidFill>
          <a:ln w="12700">
            <a:solidFill>
              <a:srgbClr val="1A5276"/>
            </a:solidFill>
            <a:prstDash val="solid"/>
          </a:ln>
        </p:spPr>
      </p:sp>
      <p:sp>
        <p:nvSpPr>
          <p:cNvPr id="39" name="Text 37"/>
          <p:cNvSpPr/>
          <p:nvPr/>
        </p:nvSpPr>
        <p:spPr>
          <a:xfrm>
            <a:off x="6080760" y="329184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Dummy Encoding</a:t>
            </a:r>
            <a:endParaRPr lang="en-US" sz="1100" dirty="0"/>
          </a:p>
        </p:txBody>
      </p:sp>
      <p:sp>
        <p:nvSpPr>
          <p:cNvPr id="40" name="Shape 38"/>
          <p:cNvSpPr/>
          <p:nvPr/>
        </p:nvSpPr>
        <p:spPr>
          <a:xfrm>
            <a:off x="6080760" y="3703320"/>
            <a:ext cx="2743200" cy="1234440"/>
          </a:xfrm>
          <a:prstGeom prst="rect">
            <a:avLst/>
          </a:prstGeom>
          <a:solidFill>
            <a:srgbClr val="F4F6F9"/>
          </a:solidFill>
          <a:ln w="12700">
            <a:solidFill>
              <a:srgbClr val="D5D8DC"/>
            </a:solidFill>
            <a:prstDash val="solid"/>
          </a:ln>
        </p:spPr>
      </p:sp>
      <p:sp>
        <p:nvSpPr>
          <p:cNvPr id="41" name="Text 39"/>
          <p:cNvSpPr/>
          <p:nvPr/>
        </p:nvSpPr>
        <p:spPr>
          <a:xfrm>
            <a:off x="6172200" y="374904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Like One-Hot but drops the first column to prevent multicollinearity.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Main Dashboard — 2×3 Subplot Layout</a:t>
            </a:r>
            <a:endParaRPr lang="en-US" sz="3000" dirty="0"/>
          </a:p>
        </p:txBody>
      </p:sp>
      <p:sp>
        <p:nvSpPr>
          <p:cNvPr id="17" name="Text 15"/>
          <p:cNvSpPr/>
          <p:nvPr/>
        </p:nvSpPr>
        <p:spPr>
          <a:xfrm>
            <a:off x="457200" y="914400"/>
            <a:ext cx="8229600" cy="4572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A 2×3 interactive Plotly dashboard built with make_subplots() — six visualizations in a unified 1400×800px figure with dropdown controls.</a:t>
            </a:r>
            <a:endParaRPr lang="en-US" sz="1300" dirty="0"/>
          </a:p>
        </p:txBody>
      </p:sp>
      <p:sp>
        <p:nvSpPr>
          <p:cNvPr id="18" name="Shape 16"/>
          <p:cNvSpPr/>
          <p:nvPr/>
        </p:nvSpPr>
        <p:spPr>
          <a:xfrm>
            <a:off x="320040" y="1508760"/>
            <a:ext cx="2743200" cy="320040"/>
          </a:xfrm>
          <a:prstGeom prst="rect">
            <a:avLst/>
          </a:prstGeom>
          <a:solidFill>
            <a:srgbClr val="1B4F72"/>
          </a:solidFill>
          <a:ln w="12700">
            <a:solidFill>
              <a:srgbClr val="1B4F72"/>
            </a:solidFill>
            <a:prstDash val="solid"/>
          </a:ln>
        </p:spPr>
      </p:sp>
      <p:sp>
        <p:nvSpPr>
          <p:cNvPr id="19" name="Text 17"/>
          <p:cNvSpPr/>
          <p:nvPr/>
        </p:nvSpPr>
        <p:spPr>
          <a:xfrm>
            <a:off x="320040" y="150876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1: Gender Distribution</a:t>
            </a:r>
            <a:endParaRPr lang="en-US" sz="1000" dirty="0"/>
          </a:p>
        </p:txBody>
      </p:sp>
      <p:sp>
        <p:nvSpPr>
          <p:cNvPr id="20" name="Shape 18"/>
          <p:cNvSpPr/>
          <p:nvPr/>
        </p:nvSpPr>
        <p:spPr>
          <a:xfrm>
            <a:off x="320040" y="1828800"/>
            <a:ext cx="2743200" cy="1234440"/>
          </a:xfrm>
          <a:prstGeom prst="rect">
            <a:avLst/>
          </a:prstGeom>
          <a:solidFill>
            <a:srgbClr val="F8F9FA"/>
          </a:solidFill>
          <a:ln w="12700">
            <a:solidFill>
              <a:srgbClr val="DEE2E6"/>
            </a:solidFill>
            <a:prstDash val="solid"/>
          </a:ln>
        </p:spPr>
      </p:sp>
      <p:sp>
        <p:nvSpPr>
          <p:cNvPr id="21" name="Text 19"/>
          <p:cNvSpPr/>
          <p:nvPr/>
        </p:nvSpPr>
        <p:spPr>
          <a:xfrm>
            <a:off x="411480" y="187452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Bar chart — coral/teal colors for Male vs Female count.</a:t>
            </a:r>
            <a:endParaRPr lang="en-US" sz="1100" dirty="0"/>
          </a:p>
        </p:txBody>
      </p:sp>
      <p:sp>
        <p:nvSpPr>
          <p:cNvPr id="22" name="Shape 20"/>
          <p:cNvSpPr/>
          <p:nvPr/>
        </p:nvSpPr>
        <p:spPr>
          <a:xfrm>
            <a:off x="3200400" y="1508760"/>
            <a:ext cx="2743200" cy="320040"/>
          </a:xfrm>
          <a:prstGeom prst="rect">
            <a:avLst/>
          </a:prstGeom>
          <a:solidFill>
            <a:srgbClr val="145A32"/>
          </a:solidFill>
          <a:ln w="12700">
            <a:solidFill>
              <a:srgbClr val="145A32"/>
            </a:solidFill>
            <a:prstDash val="solid"/>
          </a:ln>
        </p:spPr>
      </p:sp>
      <p:sp>
        <p:nvSpPr>
          <p:cNvPr id="23" name="Text 21"/>
          <p:cNvSpPr/>
          <p:nvPr/>
        </p:nvSpPr>
        <p:spPr>
          <a:xfrm>
            <a:off x="3200400" y="150876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2: Dept. GPA Ranking</a:t>
            </a:r>
            <a:endParaRPr lang="en-US" sz="1000" dirty="0"/>
          </a:p>
        </p:txBody>
      </p:sp>
      <p:sp>
        <p:nvSpPr>
          <p:cNvPr id="24" name="Shape 22"/>
          <p:cNvSpPr/>
          <p:nvPr/>
        </p:nvSpPr>
        <p:spPr>
          <a:xfrm>
            <a:off x="3200400" y="1828800"/>
            <a:ext cx="2743200" cy="1234440"/>
          </a:xfrm>
          <a:prstGeom prst="rect">
            <a:avLst/>
          </a:prstGeom>
          <a:solidFill>
            <a:srgbClr val="F8F9FA"/>
          </a:solidFill>
          <a:ln w="12700">
            <a:solidFill>
              <a:srgbClr val="DEE2E6"/>
            </a:solidFill>
            <a:prstDash val="solid"/>
          </a:ln>
        </p:spPr>
      </p:sp>
      <p:sp>
        <p:nvSpPr>
          <p:cNvPr id="25" name="Text 23"/>
          <p:cNvSpPr/>
          <p:nvPr/>
        </p:nvSpPr>
        <p:spPr>
          <a:xfrm>
            <a:off x="3291840" y="187452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Grouped bars per department — Set3 palette, groupby mean.</a:t>
            </a:r>
            <a:endParaRPr lang="en-US" sz="1100" dirty="0"/>
          </a:p>
        </p:txBody>
      </p:sp>
      <p:sp>
        <p:nvSpPr>
          <p:cNvPr id="26" name="Shape 24"/>
          <p:cNvSpPr/>
          <p:nvPr/>
        </p:nvSpPr>
        <p:spPr>
          <a:xfrm>
            <a:off x="6080760" y="1508760"/>
            <a:ext cx="2743200" cy="320040"/>
          </a:xfrm>
          <a:prstGeom prst="rect">
            <a:avLst/>
          </a:prstGeom>
          <a:solidFill>
            <a:srgbClr val="7D3C98"/>
          </a:solidFill>
          <a:ln w="12700">
            <a:solidFill>
              <a:srgbClr val="7D3C98"/>
            </a:solidFill>
            <a:prstDash val="solid"/>
          </a:ln>
        </p:spPr>
      </p:sp>
      <p:sp>
        <p:nvSpPr>
          <p:cNvPr id="27" name="Text 25"/>
          <p:cNvSpPr/>
          <p:nvPr/>
        </p:nvSpPr>
        <p:spPr>
          <a:xfrm>
            <a:off x="6080760" y="150876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3: GPA Histogram</a:t>
            </a:r>
            <a:endParaRPr lang="en-US" sz="1000" dirty="0"/>
          </a:p>
        </p:txBody>
      </p:sp>
      <p:sp>
        <p:nvSpPr>
          <p:cNvPr id="28" name="Shape 26"/>
          <p:cNvSpPr/>
          <p:nvPr/>
        </p:nvSpPr>
        <p:spPr>
          <a:xfrm>
            <a:off x="6080760" y="1828800"/>
            <a:ext cx="2743200" cy="1234440"/>
          </a:xfrm>
          <a:prstGeom prst="rect">
            <a:avLst/>
          </a:prstGeom>
          <a:solidFill>
            <a:srgbClr val="F8F9FA"/>
          </a:solidFill>
          <a:ln w="12700">
            <a:solidFill>
              <a:srgbClr val="DEE2E6"/>
            </a:solidFill>
            <a:prstDash val="solid"/>
          </a:ln>
        </p:spPr>
      </p:sp>
      <p:sp>
        <p:nvSpPr>
          <p:cNvPr id="29" name="Text 27"/>
          <p:cNvSpPr/>
          <p:nvPr/>
        </p:nvSpPr>
        <p:spPr>
          <a:xfrm>
            <a:off x="6172200" y="187452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15-bin histogram in soft green — reveals GPA distribution shape.</a:t>
            </a:r>
            <a:endParaRPr lang="en-US" sz="1100" dirty="0"/>
          </a:p>
        </p:txBody>
      </p:sp>
      <p:sp>
        <p:nvSpPr>
          <p:cNvPr id="30" name="Shape 28"/>
          <p:cNvSpPr/>
          <p:nvPr/>
        </p:nvSpPr>
        <p:spPr>
          <a:xfrm>
            <a:off x="320040" y="3246120"/>
            <a:ext cx="2743200" cy="320040"/>
          </a:xfrm>
          <a:prstGeom prst="rect">
            <a:avLst/>
          </a:prstGeom>
          <a:solidFill>
            <a:srgbClr val="922B21"/>
          </a:solidFill>
          <a:ln w="12700">
            <a:solidFill>
              <a:srgbClr val="922B21"/>
            </a:solidFill>
            <a:prstDash val="solid"/>
          </a:ln>
        </p:spPr>
      </p:sp>
      <p:sp>
        <p:nvSpPr>
          <p:cNvPr id="31" name="Text 29"/>
          <p:cNvSpPr/>
          <p:nvPr/>
        </p:nvSpPr>
        <p:spPr>
          <a:xfrm>
            <a:off x="320040" y="324612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4: Attendance vs GPA</a:t>
            </a:r>
            <a:endParaRPr lang="en-US" sz="1000" dirty="0"/>
          </a:p>
        </p:txBody>
      </p:sp>
      <p:sp>
        <p:nvSpPr>
          <p:cNvPr id="32" name="Shape 30"/>
          <p:cNvSpPr/>
          <p:nvPr/>
        </p:nvSpPr>
        <p:spPr>
          <a:xfrm>
            <a:off x="320040" y="3566160"/>
            <a:ext cx="2743200" cy="1234440"/>
          </a:xfrm>
          <a:prstGeom prst="rect">
            <a:avLst/>
          </a:prstGeom>
          <a:solidFill>
            <a:srgbClr val="F8F9FA"/>
          </a:solidFill>
          <a:ln w="12700">
            <a:solidFill>
              <a:srgbClr val="DEE2E6"/>
            </a:solidFill>
            <a:prstDash val="solid"/>
          </a:ln>
        </p:spPr>
      </p:sp>
      <p:sp>
        <p:nvSpPr>
          <p:cNvPr id="33" name="Text 31"/>
          <p:cNvSpPr/>
          <p:nvPr/>
        </p:nvSpPr>
        <p:spPr>
          <a:xfrm>
            <a:off x="411480" y="361188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Scatter + OLS trendline — color-coded by gender.</a:t>
            </a:r>
            <a:endParaRPr lang="en-US" sz="1100" dirty="0"/>
          </a:p>
        </p:txBody>
      </p:sp>
      <p:sp>
        <p:nvSpPr>
          <p:cNvPr id="34" name="Shape 32"/>
          <p:cNvSpPr/>
          <p:nvPr/>
        </p:nvSpPr>
        <p:spPr>
          <a:xfrm>
            <a:off x="3200400" y="3246120"/>
            <a:ext cx="2743200" cy="320040"/>
          </a:xfrm>
          <a:prstGeom prst="rect">
            <a:avLst/>
          </a:prstGeom>
          <a:solidFill>
            <a:srgbClr val="6E2F1A"/>
          </a:solidFill>
          <a:ln w="12700">
            <a:solidFill>
              <a:srgbClr val="6E2F1A"/>
            </a:solidFill>
            <a:prstDash val="solid"/>
          </a:ln>
        </p:spPr>
      </p:sp>
      <p:sp>
        <p:nvSpPr>
          <p:cNvPr id="35" name="Text 33"/>
          <p:cNvSpPr/>
          <p:nvPr/>
        </p:nvSpPr>
        <p:spPr>
          <a:xfrm>
            <a:off x="3200400" y="324612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5: GPA by Living</a:t>
            </a:r>
            <a:endParaRPr lang="en-US" sz="1000" dirty="0"/>
          </a:p>
        </p:txBody>
      </p:sp>
      <p:sp>
        <p:nvSpPr>
          <p:cNvPr id="36" name="Shape 34"/>
          <p:cNvSpPr/>
          <p:nvPr/>
        </p:nvSpPr>
        <p:spPr>
          <a:xfrm>
            <a:off x="3200400" y="3566160"/>
            <a:ext cx="2743200" cy="1234440"/>
          </a:xfrm>
          <a:prstGeom prst="rect">
            <a:avLst/>
          </a:prstGeom>
          <a:solidFill>
            <a:srgbClr val="F8F9FA"/>
          </a:solidFill>
          <a:ln w="12700">
            <a:solidFill>
              <a:srgbClr val="DEE2E6"/>
            </a:solidFill>
            <a:prstDash val="solid"/>
          </a:ln>
        </p:spPr>
      </p:sp>
      <p:sp>
        <p:nvSpPr>
          <p:cNvPr id="37" name="Text 35"/>
          <p:cNvSpPr/>
          <p:nvPr/>
        </p:nvSpPr>
        <p:spPr>
          <a:xfrm>
            <a:off x="3291840" y="361188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Box plot — Home vs PG interquartile GPA comparison.</a:t>
            </a:r>
            <a:endParaRPr lang="en-US" sz="1100" dirty="0"/>
          </a:p>
        </p:txBody>
      </p:sp>
      <p:sp>
        <p:nvSpPr>
          <p:cNvPr id="38" name="Shape 36"/>
          <p:cNvSpPr/>
          <p:nvPr/>
        </p:nvSpPr>
        <p:spPr>
          <a:xfrm>
            <a:off x="6080760" y="3246120"/>
            <a:ext cx="2743200" cy="320040"/>
          </a:xfrm>
          <a:prstGeom prst="rect">
            <a:avLst/>
          </a:prstGeom>
          <a:solidFill>
            <a:srgbClr val="1A5276"/>
          </a:solidFill>
          <a:ln w="12700">
            <a:solidFill>
              <a:srgbClr val="1A5276"/>
            </a:solidFill>
            <a:prstDash val="solid"/>
          </a:ln>
        </p:spPr>
      </p:sp>
      <p:sp>
        <p:nvSpPr>
          <p:cNvPr id="39" name="Text 37"/>
          <p:cNvSpPr/>
          <p:nvPr/>
        </p:nvSpPr>
        <p:spPr>
          <a:xfrm>
            <a:off x="6080760" y="3246120"/>
            <a:ext cx="27432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Chart 6: Correlation Heatmap</a:t>
            </a:r>
            <a:endParaRPr lang="en-US" sz="1000" dirty="0"/>
          </a:p>
        </p:txBody>
      </p:sp>
      <p:sp>
        <p:nvSpPr>
          <p:cNvPr id="40" name="Shape 38"/>
          <p:cNvSpPr/>
          <p:nvPr/>
        </p:nvSpPr>
        <p:spPr>
          <a:xfrm>
            <a:off x="6080760" y="3566160"/>
            <a:ext cx="2743200" cy="1234440"/>
          </a:xfrm>
          <a:prstGeom prst="rect">
            <a:avLst/>
          </a:prstGeom>
          <a:solidFill>
            <a:srgbClr val="F8F9FA"/>
          </a:solidFill>
          <a:ln w="12700">
            <a:solidFill>
              <a:srgbClr val="DEE2E6"/>
            </a:solidFill>
            <a:prstDash val="solid"/>
          </a:ln>
        </p:spPr>
      </p:sp>
      <p:sp>
        <p:nvSpPr>
          <p:cNvPr id="41" name="Text 39"/>
          <p:cNvSpPr/>
          <p:nvPr/>
        </p:nvSpPr>
        <p:spPr>
          <a:xfrm>
            <a:off x="6172200" y="3611880"/>
            <a:ext cx="2560320" cy="109728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Pearson correlation — RdBu_r colorscale, zmid=0.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Advanced Visualizations</a:t>
            </a:r>
            <a:endParaRPr lang="en-US" sz="3000" dirty="0"/>
          </a:p>
        </p:txBody>
      </p:sp>
      <p:sp>
        <p:nvSpPr>
          <p:cNvPr id="17" name="Shape 15"/>
          <p:cNvSpPr/>
          <p:nvPr/>
        </p:nvSpPr>
        <p:spPr>
          <a:xfrm>
            <a:off x="365760" y="914400"/>
            <a:ext cx="54864" cy="3566160"/>
          </a:xfrm>
          <a:prstGeom prst="rect">
            <a:avLst/>
          </a:prstGeom>
          <a:solidFill>
            <a:srgbClr val="1A2332"/>
          </a:solidFill>
          <a:ln w="12700">
            <a:solidFill>
              <a:srgbClr val="1A2332"/>
            </a:solidFill>
            <a:prstDash val="solid"/>
          </a:ln>
        </p:spPr>
      </p:sp>
      <p:sp>
        <p:nvSpPr>
          <p:cNvPr id="18" name="Text 16"/>
          <p:cNvSpPr/>
          <p:nvPr/>
        </p:nvSpPr>
        <p:spPr>
          <a:xfrm>
            <a:off x="548640" y="960120"/>
            <a:ext cx="8046720" cy="36576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3D Scatter Plot</a:t>
            </a:r>
            <a:endParaRPr lang="en-US" sz="1500" dirty="0"/>
          </a:p>
        </p:txBody>
      </p:sp>
      <p:sp>
        <p:nvSpPr>
          <p:cNvPr id="19" name="Text 17"/>
          <p:cNvSpPr/>
          <p:nvPr/>
        </p:nvSpPr>
        <p:spPr>
          <a:xfrm>
            <a:off x="548640" y="1371600"/>
            <a:ext cx="8046720" cy="82296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Built with px.scatter_3d() — X: Attendance, Y: GPA, Z: Dept (encoded). Color = Gender, Size = GPA. Enables identification of multi-variate student clusters invisible in 2D charts. Users can rotate, zoom, and isolate gender groups via legend clicks.</a:t>
            </a:r>
            <a:endParaRPr lang="en-US" sz="1250" dirty="0"/>
          </a:p>
        </p:txBody>
      </p:sp>
      <p:sp>
        <p:nvSpPr>
          <p:cNvPr id="20" name="Shape 18"/>
          <p:cNvSpPr/>
          <p:nvPr/>
        </p:nvSpPr>
        <p:spPr>
          <a:xfrm>
            <a:off x="365760" y="2286000"/>
            <a:ext cx="54864" cy="822960"/>
          </a:xfrm>
          <a:prstGeom prst="rect">
            <a:avLst/>
          </a:prstGeom>
          <a:solidFill>
            <a:srgbClr val="B8860B"/>
          </a:solidFill>
          <a:ln w="12700">
            <a:solidFill>
              <a:srgbClr val="B8860B"/>
            </a:solidFill>
            <a:prstDash val="solid"/>
          </a:ln>
        </p:spPr>
      </p:sp>
      <p:sp>
        <p:nvSpPr>
          <p:cNvPr id="21" name="Text 19"/>
          <p:cNvSpPr/>
          <p:nvPr/>
        </p:nvSpPr>
        <p:spPr>
          <a:xfrm>
            <a:off x="548640" y="2286000"/>
            <a:ext cx="8046720" cy="36576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Sunburst Chart</a:t>
            </a:r>
            <a:endParaRPr lang="en-US" sz="1500" dirty="0"/>
          </a:p>
        </p:txBody>
      </p:sp>
      <p:sp>
        <p:nvSpPr>
          <p:cNvPr id="22" name="Text 20"/>
          <p:cNvSpPr/>
          <p:nvPr/>
        </p:nvSpPr>
        <p:spPr>
          <a:xfrm>
            <a:off x="548640" y="2697480"/>
            <a:ext cx="8046720" cy="64008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4-level hierarchy: Department → Living → Gender → GPA_Category. Built with px.sunburst() + Viridis colorscale. Interactive drill-down reveals proportional relationships across all categorical dimensions simultaneously.</a:t>
            </a:r>
            <a:endParaRPr lang="en-US" sz="1250" dirty="0"/>
          </a:p>
        </p:txBody>
      </p:sp>
      <p:sp>
        <p:nvSpPr>
          <p:cNvPr id="23" name="Shape 21"/>
          <p:cNvSpPr/>
          <p:nvPr/>
        </p:nvSpPr>
        <p:spPr>
          <a:xfrm>
            <a:off x="365760" y="3429000"/>
            <a:ext cx="54864" cy="914400"/>
          </a:xfrm>
          <a:prstGeom prst="rect">
            <a:avLst/>
          </a:prstGeom>
          <a:solidFill>
            <a:srgbClr val="27AE60"/>
          </a:solidFill>
          <a:ln w="12700">
            <a:solidFill>
              <a:srgbClr val="27AE60"/>
            </a:solidFill>
            <a:prstDash val="solid"/>
          </a:ln>
        </p:spPr>
      </p:sp>
      <p:sp>
        <p:nvSpPr>
          <p:cNvPr id="24" name="Text 22"/>
          <p:cNvSpPr/>
          <p:nvPr/>
        </p:nvSpPr>
        <p:spPr>
          <a:xfrm>
            <a:off x="548640" y="3429000"/>
            <a:ext cx="8046720" cy="36576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KPI Gauge Charts</a:t>
            </a:r>
            <a:endParaRPr lang="en-US" sz="1500" dirty="0"/>
          </a:p>
        </p:txBody>
      </p:sp>
      <p:sp>
        <p:nvSpPr>
          <p:cNvPr id="25" name="Shape 23"/>
          <p:cNvSpPr/>
          <p:nvPr/>
        </p:nvSpPr>
        <p:spPr>
          <a:xfrm>
            <a:off x="548640" y="3858768"/>
            <a:ext cx="2606040" cy="594360"/>
          </a:xfrm>
          <a:prstGeom prst="rect">
            <a:avLst/>
          </a:prstGeom>
          <a:solidFill>
            <a:srgbClr val="00B894"/>
          </a:solidFill>
          <a:ln w="12700">
            <a:solidFill>
              <a:srgbClr val="00B894"/>
            </a:solidFill>
            <a:prstDash val="solid"/>
          </a:ln>
        </p:spPr>
      </p:sp>
      <p:sp>
        <p:nvSpPr>
          <p:cNvPr id="26" name="Text 24"/>
          <p:cNvSpPr/>
          <p:nvPr/>
        </p:nvSpPr>
        <p:spPr>
          <a:xfrm>
            <a:off x="548640" y="3858768"/>
            <a:ext cx="2606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8.01</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Overall Avg GPA</a:t>
            </a:r>
            <a:endParaRPr lang="en-US" sz="1200" dirty="0"/>
          </a:p>
        </p:txBody>
      </p:sp>
      <p:sp>
        <p:nvSpPr>
          <p:cNvPr id="27" name="Shape 25"/>
          <p:cNvSpPr/>
          <p:nvPr/>
        </p:nvSpPr>
        <p:spPr>
          <a:xfrm>
            <a:off x="3337560" y="3858768"/>
            <a:ext cx="2606040" cy="594360"/>
          </a:xfrm>
          <a:prstGeom prst="rect">
            <a:avLst/>
          </a:prstGeom>
          <a:solidFill>
            <a:srgbClr val="0984E3"/>
          </a:solidFill>
          <a:ln w="12700">
            <a:solidFill>
              <a:srgbClr val="0984E3"/>
            </a:solidFill>
            <a:prstDash val="solid"/>
          </a:ln>
        </p:spPr>
      </p:sp>
      <p:sp>
        <p:nvSpPr>
          <p:cNvPr id="28" name="Text 26"/>
          <p:cNvSpPr/>
          <p:nvPr/>
        </p:nvSpPr>
        <p:spPr>
          <a:xfrm>
            <a:off x="3337560" y="3858768"/>
            <a:ext cx="2606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79.94%</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Avg Attendance</a:t>
            </a:r>
            <a:endParaRPr lang="en-US" sz="1200" dirty="0"/>
          </a:p>
        </p:txBody>
      </p:sp>
      <p:sp>
        <p:nvSpPr>
          <p:cNvPr id="29" name="Shape 27"/>
          <p:cNvSpPr/>
          <p:nvPr/>
        </p:nvSpPr>
        <p:spPr>
          <a:xfrm>
            <a:off x="6126480" y="3858768"/>
            <a:ext cx="2606040" cy="594360"/>
          </a:xfrm>
          <a:prstGeom prst="rect">
            <a:avLst/>
          </a:prstGeom>
          <a:solidFill>
            <a:srgbClr val="6C5CE7"/>
          </a:solidFill>
          <a:ln w="12700">
            <a:solidFill>
              <a:srgbClr val="6C5CE7"/>
            </a:solidFill>
            <a:prstDash val="solid"/>
          </a:ln>
        </p:spPr>
      </p:sp>
      <p:sp>
        <p:nvSpPr>
          <p:cNvPr id="30" name="Text 28"/>
          <p:cNvSpPr/>
          <p:nvPr/>
        </p:nvSpPr>
        <p:spPr>
          <a:xfrm>
            <a:off x="6126480" y="3858768"/>
            <a:ext cx="2606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9.6</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Top Dept (ENTC) GPA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Data Analysis &amp; Results</a:t>
            </a:r>
            <a:endParaRPr lang="en-US" sz="3000" dirty="0"/>
          </a:p>
        </p:txBody>
      </p:sp>
      <p:sp>
        <p:nvSpPr>
          <p:cNvPr id="17" name="Text 15"/>
          <p:cNvSpPr/>
          <p:nvPr/>
        </p:nvSpPr>
        <p:spPr>
          <a:xfrm>
            <a:off x="457200" y="914400"/>
            <a:ext cx="82296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Multi-layer analysis from descriptive statistics to advanced visualizations yielded the following key findings: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8412480" cy="228600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0175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Department</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Avg Attendance (%)</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Avg GPA</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Remarks</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2332"/>
                    </a:solidFill>
                  </a:tcPr>
                </a:tc>
                <a:extLst>
                  <a:ext uri="{0D108BD9-81ED-4DB2-BD59-A6C34878D82A}">
                    <a16:rowId xmlns:a16="http://schemas.microsoft.com/office/drawing/2014/main" val="10000"/>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AIML</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72.8</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7.4</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Needs attention</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Robotics</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83.7</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8.4</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ENTC</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93.5</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9.6</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Top performer ★</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CS</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87.2</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Strong</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Mechanical</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71.8</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7.1</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Intervention req.</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Civil</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72.4</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Intervention req.</a:t>
                      </a:r>
                      <a:endParaRPr lang="en-US" sz="11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p:nvPr/>
        </p:nvSpPr>
        <p:spPr>
          <a:xfrm>
            <a:off x="457200" y="3794760"/>
            <a:ext cx="8229600" cy="1005840"/>
          </a:xfrm>
          <a:prstGeom prst="rect">
            <a:avLst/>
          </a:prstGeom>
          <a:noFill/>
          <a:ln/>
        </p:spPr>
        <p:txBody>
          <a:bodyPr wrap="square" rtlCol="0" anchor="ctr"/>
          <a:lstStyle/>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ENTC students lead with 93.5% attendance &amp; GPA 9.6 — consistent academic excellence.</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Mechanical &amp; Civil departments need targeted academic interventions.</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Gender and Living arrangement perfectly balanced (50-50) — no sampling bias.</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PG students cluster in higher-performing departments (ENTC, CS).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800000">
            <a:off x="73152" y="-91440"/>
            <a:ext cx="73152" cy="1371600"/>
          </a:xfrm>
          <a:prstGeom prst="rect">
            <a:avLst/>
          </a:prstGeom>
          <a:solidFill>
            <a:srgbClr val="1B4F72"/>
          </a:solidFill>
          <a:ln w="12700">
            <a:solidFill>
              <a:srgbClr val="1B4F72"/>
            </a:solidFill>
            <a:prstDash val="solid"/>
          </a:ln>
        </p:spPr>
      </p:sp>
      <p:sp>
        <p:nvSpPr>
          <p:cNvPr id="3" name="Shape 1"/>
          <p:cNvSpPr/>
          <p:nvPr/>
        </p:nvSpPr>
        <p:spPr>
          <a:xfrm rot="1800000">
            <a:off x="274320" y="-91440"/>
            <a:ext cx="73152" cy="1371600"/>
          </a:xfrm>
          <a:prstGeom prst="rect">
            <a:avLst/>
          </a:prstGeom>
          <a:solidFill>
            <a:srgbClr val="1B4F72"/>
          </a:solidFill>
          <a:ln w="12700">
            <a:solidFill>
              <a:srgbClr val="1B4F72"/>
            </a:solidFill>
            <a:prstDash val="solid"/>
          </a:ln>
        </p:spPr>
      </p:sp>
      <p:sp>
        <p:nvSpPr>
          <p:cNvPr id="4" name="Shape 2"/>
          <p:cNvSpPr/>
          <p:nvPr/>
        </p:nvSpPr>
        <p:spPr>
          <a:xfrm rot="1800000">
            <a:off x="475488" y="-91440"/>
            <a:ext cx="73152" cy="1371600"/>
          </a:xfrm>
          <a:prstGeom prst="rect">
            <a:avLst/>
          </a:prstGeom>
          <a:solidFill>
            <a:srgbClr val="1B4F72"/>
          </a:solidFill>
          <a:ln w="12700">
            <a:solidFill>
              <a:srgbClr val="1B4F72"/>
            </a:solidFill>
            <a:prstDash val="solid"/>
          </a:ln>
        </p:spPr>
      </p:sp>
      <p:sp>
        <p:nvSpPr>
          <p:cNvPr id="5" name="Shape 3"/>
          <p:cNvSpPr/>
          <p:nvPr/>
        </p:nvSpPr>
        <p:spPr>
          <a:xfrm rot="-1800000">
            <a:off x="8229600" y="-91440"/>
            <a:ext cx="73152" cy="1371600"/>
          </a:xfrm>
          <a:prstGeom prst="rect">
            <a:avLst/>
          </a:prstGeom>
          <a:solidFill>
            <a:srgbClr val="1A3A4A"/>
          </a:solidFill>
          <a:ln w="12700">
            <a:solidFill>
              <a:srgbClr val="1A3A4A"/>
            </a:solidFill>
            <a:prstDash val="solid"/>
          </a:ln>
        </p:spPr>
      </p:sp>
      <p:sp>
        <p:nvSpPr>
          <p:cNvPr id="6" name="Shape 4"/>
          <p:cNvSpPr/>
          <p:nvPr/>
        </p:nvSpPr>
        <p:spPr>
          <a:xfrm rot="-1800000">
            <a:off x="8028432" y="-91440"/>
            <a:ext cx="73152" cy="1371600"/>
          </a:xfrm>
          <a:prstGeom prst="rect">
            <a:avLst/>
          </a:prstGeom>
          <a:solidFill>
            <a:srgbClr val="1A3A4A"/>
          </a:solidFill>
          <a:ln w="12700">
            <a:solidFill>
              <a:srgbClr val="1A3A4A"/>
            </a:solidFill>
            <a:prstDash val="solid"/>
          </a:ln>
        </p:spPr>
      </p:sp>
      <p:sp>
        <p:nvSpPr>
          <p:cNvPr id="7" name="Shape 5"/>
          <p:cNvSpPr/>
          <p:nvPr/>
        </p:nvSpPr>
        <p:spPr>
          <a:xfrm rot="-1800000">
            <a:off x="7827264" y="-91440"/>
            <a:ext cx="73152" cy="1371600"/>
          </a:xfrm>
          <a:prstGeom prst="rect">
            <a:avLst/>
          </a:prstGeom>
          <a:solidFill>
            <a:srgbClr val="1A3A4A"/>
          </a:solidFill>
          <a:ln w="12700">
            <a:solidFill>
              <a:srgbClr val="1A3A4A"/>
            </a:solidFill>
            <a:prstDash val="solid"/>
          </a:ln>
        </p:spPr>
      </p:sp>
      <p:sp>
        <p:nvSpPr>
          <p:cNvPr id="8" name="Shape 6"/>
          <p:cNvSpPr/>
          <p:nvPr/>
        </p:nvSpPr>
        <p:spPr>
          <a:xfrm rot="1800000">
            <a:off x="73152" y="3840480"/>
            <a:ext cx="73152" cy="1371600"/>
          </a:xfrm>
          <a:prstGeom prst="rect">
            <a:avLst/>
          </a:prstGeom>
          <a:solidFill>
            <a:srgbClr val="B8860B"/>
          </a:solidFill>
          <a:ln w="12700">
            <a:solidFill>
              <a:srgbClr val="B8860B"/>
            </a:solidFill>
            <a:prstDash val="solid"/>
          </a:ln>
        </p:spPr>
      </p:sp>
      <p:sp>
        <p:nvSpPr>
          <p:cNvPr id="9" name="Shape 7"/>
          <p:cNvSpPr/>
          <p:nvPr/>
        </p:nvSpPr>
        <p:spPr>
          <a:xfrm rot="1800000">
            <a:off x="274320" y="3840480"/>
            <a:ext cx="73152" cy="1371600"/>
          </a:xfrm>
          <a:prstGeom prst="rect">
            <a:avLst/>
          </a:prstGeom>
          <a:solidFill>
            <a:srgbClr val="B8860B"/>
          </a:solidFill>
          <a:ln w="12700">
            <a:solidFill>
              <a:srgbClr val="B8860B"/>
            </a:solidFill>
            <a:prstDash val="solid"/>
          </a:ln>
        </p:spPr>
      </p:sp>
      <p:sp>
        <p:nvSpPr>
          <p:cNvPr id="10" name="Shape 8"/>
          <p:cNvSpPr/>
          <p:nvPr/>
        </p:nvSpPr>
        <p:spPr>
          <a:xfrm rot="1800000">
            <a:off x="475488" y="3840480"/>
            <a:ext cx="73152" cy="1371600"/>
          </a:xfrm>
          <a:prstGeom prst="rect">
            <a:avLst/>
          </a:prstGeom>
          <a:solidFill>
            <a:srgbClr val="B8860B"/>
          </a:solidFill>
          <a:ln w="12700">
            <a:solidFill>
              <a:srgbClr val="B8860B"/>
            </a:solidFill>
            <a:prstDash val="solid"/>
          </a:ln>
        </p:spPr>
      </p:sp>
      <p:sp>
        <p:nvSpPr>
          <p:cNvPr id="11" name="Shape 9"/>
          <p:cNvSpPr/>
          <p:nvPr/>
        </p:nvSpPr>
        <p:spPr>
          <a:xfrm rot="-1800000">
            <a:off x="8778240" y="3840480"/>
            <a:ext cx="73152" cy="1371600"/>
          </a:xfrm>
          <a:prstGeom prst="rect">
            <a:avLst/>
          </a:prstGeom>
          <a:solidFill>
            <a:srgbClr val="1A3A4A"/>
          </a:solidFill>
          <a:ln w="12700">
            <a:solidFill>
              <a:srgbClr val="1A3A4A"/>
            </a:solidFill>
            <a:prstDash val="solid"/>
          </a:ln>
        </p:spPr>
      </p:sp>
      <p:sp>
        <p:nvSpPr>
          <p:cNvPr id="12" name="Shape 10"/>
          <p:cNvSpPr/>
          <p:nvPr/>
        </p:nvSpPr>
        <p:spPr>
          <a:xfrm rot="-1800000">
            <a:off x="8577072" y="3840480"/>
            <a:ext cx="73152" cy="1371600"/>
          </a:xfrm>
          <a:prstGeom prst="rect">
            <a:avLst/>
          </a:prstGeom>
          <a:solidFill>
            <a:srgbClr val="1A3A4A"/>
          </a:solidFill>
          <a:ln w="12700">
            <a:solidFill>
              <a:srgbClr val="1A3A4A"/>
            </a:solidFill>
            <a:prstDash val="solid"/>
          </a:ln>
        </p:spPr>
      </p:sp>
      <p:sp>
        <p:nvSpPr>
          <p:cNvPr id="13" name="Shape 11"/>
          <p:cNvSpPr/>
          <p:nvPr/>
        </p:nvSpPr>
        <p:spPr>
          <a:xfrm rot="-1800000">
            <a:off x="8375904" y="3840480"/>
            <a:ext cx="73152" cy="1371600"/>
          </a:xfrm>
          <a:prstGeom prst="rect">
            <a:avLst/>
          </a:prstGeom>
          <a:solidFill>
            <a:srgbClr val="1A3A4A"/>
          </a:solidFill>
          <a:ln w="12700">
            <a:solidFill>
              <a:srgbClr val="1A3A4A"/>
            </a:solidFill>
            <a:prstDash val="solid"/>
          </a:ln>
        </p:spPr>
      </p:sp>
      <p:sp>
        <p:nvSpPr>
          <p:cNvPr id="14" name="Shape 12"/>
          <p:cNvSpPr/>
          <p:nvPr/>
        </p:nvSpPr>
        <p:spPr>
          <a:xfrm>
            <a:off x="0" y="0"/>
            <a:ext cx="9144000" cy="73152"/>
          </a:xfrm>
          <a:prstGeom prst="rect">
            <a:avLst/>
          </a:prstGeom>
          <a:solidFill>
            <a:srgbClr val="1A2332"/>
          </a:solidFill>
          <a:ln w="12700">
            <a:solidFill>
              <a:srgbClr val="1A2332"/>
            </a:solidFill>
            <a:prstDash val="solid"/>
          </a:ln>
        </p:spPr>
      </p:sp>
      <p:sp>
        <p:nvSpPr>
          <p:cNvPr id="15" name="Shape 13"/>
          <p:cNvSpPr/>
          <p:nvPr/>
        </p:nvSpPr>
        <p:spPr>
          <a:xfrm>
            <a:off x="0" y="5065776"/>
            <a:ext cx="9144000" cy="77724"/>
          </a:xfrm>
          <a:prstGeom prst="rect">
            <a:avLst/>
          </a:prstGeom>
          <a:solidFill>
            <a:srgbClr val="B8860B"/>
          </a:solidFill>
          <a:ln w="12700">
            <a:solidFill>
              <a:srgbClr val="B8860B"/>
            </a:solidFill>
            <a:prstDash val="solid"/>
          </a:ln>
        </p:spPr>
      </p:sp>
      <p:sp>
        <p:nvSpPr>
          <p:cNvPr id="16" name="Text 14"/>
          <p:cNvSpPr/>
          <p:nvPr/>
        </p:nvSpPr>
        <p:spPr>
          <a:xfrm>
            <a:off x="457200" y="182880"/>
            <a:ext cx="8229600" cy="640080"/>
          </a:xfrm>
          <a:prstGeom prst="rect">
            <a:avLst/>
          </a:prstGeom>
          <a:noFill/>
          <a:ln/>
        </p:spPr>
        <p:txBody>
          <a:bodyPr wrap="square" rtlCol="0" anchor="ctr"/>
          <a:lstStyle/>
          <a:p>
            <a:pPr marL="0" indent="0">
              <a:buNone/>
            </a:pPr>
            <a:r>
              <a:rPr lang="en-US" sz="3000" dirty="0">
                <a:solidFill>
                  <a:srgbClr val="B8860B"/>
                </a:solidFill>
                <a:latin typeface="Calibri Light" pitchFamily="34" charset="0"/>
                <a:ea typeface="Calibri Light" pitchFamily="34" charset="-122"/>
                <a:cs typeface="Calibri Light" pitchFamily="34" charset="-120"/>
              </a:rPr>
              <a:t>Conclusion</a:t>
            </a:r>
            <a:endParaRPr lang="en-US" sz="3000" dirty="0"/>
          </a:p>
        </p:txBody>
      </p:sp>
      <p:sp>
        <p:nvSpPr>
          <p:cNvPr id="17" name="Text 15"/>
          <p:cNvSpPr/>
          <p:nvPr/>
        </p:nvSpPr>
        <p:spPr>
          <a:xfrm>
            <a:off x="457200" y="914400"/>
            <a:ext cx="8229600" cy="640080"/>
          </a:xfrm>
          <a:prstGeom prst="rect">
            <a:avLst/>
          </a:prstGeom>
          <a:noFill/>
          <a:ln/>
        </p:spPr>
        <p:txBody>
          <a:bodyPr wrap="square" rtlCol="0" anchor="ctr"/>
          <a:lstStyle/>
          <a:p>
            <a:pPr marL="0" indent="0">
              <a:buNone/>
            </a:pPr>
            <a:r>
              <a:rPr lang="en-US" sz="1350" dirty="0">
                <a:solidFill>
                  <a:srgbClr val="333333"/>
                </a:solidFill>
                <a:latin typeface="Calibri" pitchFamily="34" charset="0"/>
                <a:ea typeface="Calibri" pitchFamily="34" charset="-122"/>
                <a:cs typeface="Calibri" pitchFamily="34" charset="-120"/>
              </a:rPr>
              <a:t>This project demonstrated Python and Pandas' power in extracting actionable insights from student datasets. From loading CSV files to building interactive dashboards, every stage was handled efficiently.</a:t>
            </a:r>
            <a:endParaRPr lang="en-US" sz="1350" dirty="0"/>
          </a:p>
        </p:txBody>
      </p:sp>
      <p:sp>
        <p:nvSpPr>
          <p:cNvPr id="18" name="Shape 16"/>
          <p:cNvSpPr/>
          <p:nvPr/>
        </p:nvSpPr>
        <p:spPr>
          <a:xfrm>
            <a:off x="365760" y="1691640"/>
            <a:ext cx="502920" cy="502920"/>
          </a:xfrm>
          <a:prstGeom prst="rect">
            <a:avLst/>
          </a:prstGeom>
          <a:solidFill>
            <a:srgbClr val="00B894"/>
          </a:solidFill>
          <a:ln w="12700">
            <a:solidFill>
              <a:srgbClr val="00B894"/>
            </a:solidFill>
            <a:prstDash val="solid"/>
          </a:ln>
        </p:spPr>
      </p:sp>
      <p:sp>
        <p:nvSpPr>
          <p:cNvPr id="19" name="Text 17"/>
          <p:cNvSpPr/>
          <p:nvPr/>
        </p:nvSpPr>
        <p:spPr>
          <a:xfrm>
            <a:off x="365760" y="169164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20" name="Text 18"/>
          <p:cNvSpPr/>
          <p:nvPr/>
        </p:nvSpPr>
        <p:spPr>
          <a:xfrm>
            <a:off x="1005840" y="1719072"/>
            <a:ext cx="7772400" cy="475488"/>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ENTC students have the highest avg attendance (93.5%) and GPA (9.6), indicating consistent academic performance.</a:t>
            </a:r>
            <a:endParaRPr lang="en-US" sz="1250" dirty="0"/>
          </a:p>
        </p:txBody>
      </p:sp>
      <p:sp>
        <p:nvSpPr>
          <p:cNvPr id="21" name="Shape 19"/>
          <p:cNvSpPr/>
          <p:nvPr/>
        </p:nvSpPr>
        <p:spPr>
          <a:xfrm>
            <a:off x="365760" y="2441448"/>
            <a:ext cx="502920" cy="502920"/>
          </a:xfrm>
          <a:prstGeom prst="rect">
            <a:avLst/>
          </a:prstGeom>
          <a:solidFill>
            <a:srgbClr val="E74C3C"/>
          </a:solidFill>
          <a:ln w="12700">
            <a:solidFill>
              <a:srgbClr val="E74C3C"/>
            </a:solidFill>
            <a:prstDash val="solid"/>
          </a:ln>
        </p:spPr>
      </p:sp>
      <p:sp>
        <p:nvSpPr>
          <p:cNvPr id="22" name="Text 20"/>
          <p:cNvSpPr/>
          <p:nvPr/>
        </p:nvSpPr>
        <p:spPr>
          <a:xfrm>
            <a:off x="365760" y="2441448"/>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3" name="Text 21"/>
          <p:cNvSpPr/>
          <p:nvPr/>
        </p:nvSpPr>
        <p:spPr>
          <a:xfrm>
            <a:off x="1005840" y="2468880"/>
            <a:ext cx="7772400" cy="475488"/>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Mechanical and Civil departments show lower attendance and GPA — targeted academic support is recommended.</a:t>
            </a:r>
            <a:endParaRPr lang="en-US" sz="1250" dirty="0"/>
          </a:p>
        </p:txBody>
      </p:sp>
      <p:sp>
        <p:nvSpPr>
          <p:cNvPr id="24" name="Shape 22"/>
          <p:cNvSpPr/>
          <p:nvPr/>
        </p:nvSpPr>
        <p:spPr>
          <a:xfrm>
            <a:off x="365760" y="3191256"/>
            <a:ext cx="502920" cy="502920"/>
          </a:xfrm>
          <a:prstGeom prst="rect">
            <a:avLst/>
          </a:prstGeom>
          <a:solidFill>
            <a:srgbClr val="0984E3"/>
          </a:solidFill>
          <a:ln w="12700">
            <a:solidFill>
              <a:srgbClr val="0984E3"/>
            </a:solidFill>
            <a:prstDash val="solid"/>
          </a:ln>
        </p:spPr>
      </p:sp>
      <p:sp>
        <p:nvSpPr>
          <p:cNvPr id="25" name="Text 23"/>
          <p:cNvSpPr/>
          <p:nvPr/>
        </p:nvSpPr>
        <p:spPr>
          <a:xfrm>
            <a:off x="365760" y="3191256"/>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6" name="Text 24"/>
          <p:cNvSpPr/>
          <p:nvPr/>
        </p:nvSpPr>
        <p:spPr>
          <a:xfrm>
            <a:off x="1005840" y="3218688"/>
            <a:ext cx="7772400" cy="475488"/>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Gender and Living arrangement are perfectly balanced (50-50), confirming no sampling bias in the dataset.</a:t>
            </a:r>
            <a:endParaRPr lang="en-US" sz="1250" dirty="0"/>
          </a:p>
        </p:txBody>
      </p:sp>
      <p:sp>
        <p:nvSpPr>
          <p:cNvPr id="27" name="Shape 25"/>
          <p:cNvSpPr/>
          <p:nvPr/>
        </p:nvSpPr>
        <p:spPr>
          <a:xfrm>
            <a:off x="365760" y="3941064"/>
            <a:ext cx="502920" cy="502920"/>
          </a:xfrm>
          <a:prstGeom prst="rect">
            <a:avLst/>
          </a:prstGeom>
          <a:solidFill>
            <a:srgbClr val="6C5CE7"/>
          </a:solidFill>
          <a:ln w="12700">
            <a:solidFill>
              <a:srgbClr val="6C5CE7"/>
            </a:solidFill>
            <a:prstDash val="solid"/>
          </a:ln>
        </p:spPr>
      </p:sp>
      <p:sp>
        <p:nvSpPr>
          <p:cNvPr id="28" name="Text 26"/>
          <p:cNvSpPr/>
          <p:nvPr/>
        </p:nvSpPr>
        <p:spPr>
          <a:xfrm>
            <a:off x="365760" y="3941064"/>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9" name="Text 27"/>
          <p:cNvSpPr/>
          <p:nvPr/>
        </p:nvSpPr>
        <p:spPr>
          <a:xfrm>
            <a:off x="1005840" y="3968496"/>
            <a:ext cx="7772400" cy="475488"/>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Python's normalization, encoding, and binning tools efficiently prepare this dataset for advanced ML applications.</a:t>
            </a:r>
            <a:endParaRPr lang="en-US" sz="1250" dirty="0"/>
          </a:p>
        </p:txBody>
      </p:sp>
      <p:sp>
        <p:nvSpPr>
          <p:cNvPr id="30" name="Shape 28"/>
          <p:cNvSpPr/>
          <p:nvPr/>
        </p:nvSpPr>
        <p:spPr>
          <a:xfrm>
            <a:off x="365760" y="4663440"/>
            <a:ext cx="8412480" cy="54864"/>
          </a:xfrm>
          <a:prstGeom prst="rect">
            <a:avLst/>
          </a:prstGeom>
          <a:solidFill>
            <a:srgbClr val="B8860B"/>
          </a:solidFill>
          <a:ln w="12700">
            <a:solidFill>
              <a:srgbClr val="B8860B"/>
            </a:solidFill>
            <a:prstDash val="solid"/>
          </a:ln>
        </p:spPr>
      </p:sp>
      <p:sp>
        <p:nvSpPr>
          <p:cNvPr id="31" name="Text 29"/>
          <p:cNvSpPr/>
          <p:nvPr/>
        </p:nvSpPr>
        <p:spPr>
          <a:xfrm>
            <a:off x="365760" y="4736592"/>
            <a:ext cx="8412480" cy="274320"/>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Symbiosis Institute of Technology, Pune | Dept. of Applied Science | AY 2025-26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Analytics Dashboard</dc:title>
  <dc:subject>PptxGenJS Presentation</dc:subject>
  <dc:creator>PptxGenJS</dc:creator>
  <cp:lastModifiedBy>Sajag Agrawal</cp:lastModifiedBy>
  <cp:revision>2</cp:revision>
  <dcterms:created xsi:type="dcterms:W3CDTF">2026-04-22T20:36:25Z</dcterms:created>
  <dcterms:modified xsi:type="dcterms:W3CDTF">2026-04-22T20:41:45Z</dcterms:modified>
</cp:coreProperties>
</file>